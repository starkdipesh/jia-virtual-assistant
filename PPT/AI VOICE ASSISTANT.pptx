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sldIdLst>
    <p:sldId id="256" r:id="rId2"/>
    <p:sldId id="260" r:id="rId3"/>
    <p:sldId id="258" r:id="rId4"/>
    <p:sldId id="265" r:id="rId5"/>
    <p:sldId id="285" r:id="rId6"/>
    <p:sldId id="286" r:id="rId7"/>
    <p:sldId id="304" r:id="rId8"/>
    <p:sldId id="288" r:id="rId9"/>
    <p:sldId id="287" r:id="rId10"/>
    <p:sldId id="282" r:id="rId11"/>
    <p:sldId id="314" r:id="rId12"/>
    <p:sldId id="278" r:id="rId13"/>
    <p:sldId id="277" r:id="rId14"/>
    <p:sldId id="296" r:id="rId15"/>
    <p:sldId id="280" r:id="rId16"/>
    <p:sldId id="315" r:id="rId17"/>
    <p:sldId id="303" r:id="rId18"/>
    <p:sldId id="300" r:id="rId19"/>
    <p:sldId id="301" r:id="rId20"/>
    <p:sldId id="309" r:id="rId21"/>
    <p:sldId id="310" r:id="rId22"/>
    <p:sldId id="312" r:id="rId23"/>
    <p:sldId id="313" r:id="rId24"/>
    <p:sldId id="29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E1E4B21-6315-44A1-ACE8-08A3E3558068}">
          <p14:sldIdLst>
            <p14:sldId id="256"/>
            <p14:sldId id="260"/>
            <p14:sldId id="258"/>
            <p14:sldId id="265"/>
            <p14:sldId id="285"/>
            <p14:sldId id="286"/>
            <p14:sldId id="304"/>
            <p14:sldId id="288"/>
            <p14:sldId id="287"/>
            <p14:sldId id="282"/>
            <p14:sldId id="314"/>
            <p14:sldId id="278"/>
            <p14:sldId id="277"/>
            <p14:sldId id="296"/>
          </p14:sldIdLst>
        </p14:section>
        <p14:section name="Untitled Section" id="{DA09A80A-C91D-4F8C-9CA9-53259F6CDA65}">
          <p14:sldIdLst>
            <p14:sldId id="280"/>
            <p14:sldId id="315"/>
            <p14:sldId id="303"/>
            <p14:sldId id="300"/>
            <p14:sldId id="301"/>
            <p14:sldId id="309"/>
            <p14:sldId id="310"/>
            <p14:sldId id="312"/>
            <p14:sldId id="313"/>
            <p14:sldId id="29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9" d="100"/>
          <a:sy n="89" d="100"/>
        </p:scale>
        <p:origin x="120"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EC1E37-52ED-4E95-AC2A-51416C345F9E}"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3EE29C9B-A812-4EE0-A1C9-94DA09179CEE}">
      <dgm:prSet phldrT="[Text]" custT="1">
        <dgm:style>
          <a:lnRef idx="2">
            <a:schemeClr val="dk1"/>
          </a:lnRef>
          <a:fillRef idx="1">
            <a:schemeClr val="lt1"/>
          </a:fillRef>
          <a:effectRef idx="0">
            <a:schemeClr val="dk1"/>
          </a:effectRef>
          <a:fontRef idx="minor">
            <a:schemeClr val="dk1"/>
          </a:fontRef>
        </dgm:style>
      </dgm:prSet>
      <dgm:spPr/>
      <dgm:t>
        <a:bodyPr/>
        <a:lstStyle/>
        <a:p>
          <a:r>
            <a:rPr lang="en-US" sz="1400" dirty="0"/>
            <a:t>Input (Voice)</a:t>
          </a:r>
          <a:endParaRPr lang="en-US" sz="900" dirty="0"/>
        </a:p>
      </dgm:t>
    </dgm:pt>
    <dgm:pt modelId="{639B18FF-CF44-4453-8AD5-6407F8EA1884}" type="parTrans" cxnId="{40D35BA9-6B8E-44F6-958B-392470C97F3E}">
      <dgm:prSet/>
      <dgm:spPr/>
      <dgm:t>
        <a:bodyPr/>
        <a:lstStyle/>
        <a:p>
          <a:endParaRPr lang="en-US"/>
        </a:p>
      </dgm:t>
    </dgm:pt>
    <dgm:pt modelId="{42824404-05D5-44AC-9996-0CBD6B44CEDF}" type="sibTrans" cxnId="{40D35BA9-6B8E-44F6-958B-392470C97F3E}">
      <dgm:prSet>
        <dgm:style>
          <a:lnRef idx="1">
            <a:schemeClr val="dk1"/>
          </a:lnRef>
          <a:fillRef idx="0">
            <a:schemeClr val="dk1"/>
          </a:fillRef>
          <a:effectRef idx="0">
            <a:schemeClr val="dk1"/>
          </a:effectRef>
          <a:fontRef idx="minor">
            <a:schemeClr val="tx1"/>
          </a:fontRef>
        </dgm:style>
      </dgm:prSet>
      <dgm:spPr/>
      <dgm:t>
        <a:bodyPr/>
        <a:lstStyle/>
        <a:p>
          <a:endParaRPr lang="en-US"/>
        </a:p>
      </dgm:t>
    </dgm:pt>
    <dgm:pt modelId="{150478BD-EE30-4242-ADD3-A4D6F9EB6AE7}">
      <dgm:prSet phldrT="[Text]" custT="1">
        <dgm:style>
          <a:lnRef idx="2">
            <a:schemeClr val="dk1"/>
          </a:lnRef>
          <a:fillRef idx="1">
            <a:schemeClr val="lt1"/>
          </a:fillRef>
          <a:effectRef idx="0">
            <a:schemeClr val="dk1"/>
          </a:effectRef>
          <a:fontRef idx="minor">
            <a:schemeClr val="dk1"/>
          </a:fontRef>
        </dgm:style>
      </dgm:prSet>
      <dgm:spPr/>
      <dgm:t>
        <a:bodyPr/>
        <a:lstStyle/>
        <a:p>
          <a:r>
            <a:rPr lang="en-US" sz="1400" dirty="0"/>
            <a:t>Language Model</a:t>
          </a:r>
        </a:p>
      </dgm:t>
    </dgm:pt>
    <dgm:pt modelId="{96F73225-5A1E-4B4A-A516-E330148A1E0C}" type="parTrans" cxnId="{0B375117-47AB-44A0-8FB0-E67E951D23B5}">
      <dgm:prSet/>
      <dgm:spPr/>
      <dgm:t>
        <a:bodyPr/>
        <a:lstStyle/>
        <a:p>
          <a:endParaRPr lang="en-US"/>
        </a:p>
      </dgm:t>
    </dgm:pt>
    <dgm:pt modelId="{F62065D6-BAE4-4085-86B3-E231C35A663A}" type="sibTrans" cxnId="{0B375117-47AB-44A0-8FB0-E67E951D23B5}">
      <dgm:prSet>
        <dgm:style>
          <a:lnRef idx="1">
            <a:schemeClr val="dk1"/>
          </a:lnRef>
          <a:fillRef idx="0">
            <a:schemeClr val="dk1"/>
          </a:fillRef>
          <a:effectRef idx="0">
            <a:schemeClr val="dk1"/>
          </a:effectRef>
          <a:fontRef idx="minor">
            <a:schemeClr val="tx1"/>
          </a:fontRef>
        </dgm:style>
      </dgm:prSet>
      <dgm:spPr/>
      <dgm:t>
        <a:bodyPr/>
        <a:lstStyle/>
        <a:p>
          <a:endParaRPr lang="en-US"/>
        </a:p>
      </dgm:t>
    </dgm:pt>
    <dgm:pt modelId="{78BA8B77-091F-48CA-A843-8766A7C041E8}">
      <dgm:prSet phldrT="[Text]" custT="1">
        <dgm:style>
          <a:lnRef idx="2">
            <a:schemeClr val="dk1"/>
          </a:lnRef>
          <a:fillRef idx="1">
            <a:schemeClr val="lt1"/>
          </a:fillRef>
          <a:effectRef idx="0">
            <a:schemeClr val="dk1"/>
          </a:effectRef>
          <a:fontRef idx="minor">
            <a:schemeClr val="dk1"/>
          </a:fontRef>
        </dgm:style>
      </dgm:prSet>
      <dgm:spPr/>
      <dgm:t>
        <a:bodyPr/>
        <a:lstStyle/>
        <a:p>
          <a:r>
            <a:rPr lang="en-US" sz="1400" dirty="0"/>
            <a:t>Output (Speaker)</a:t>
          </a:r>
        </a:p>
      </dgm:t>
    </dgm:pt>
    <dgm:pt modelId="{0481CEA9-73A8-443F-8D1E-5A554CE815C9}" type="parTrans" cxnId="{349F6654-1859-4DCA-A7FA-7F924861CEA7}">
      <dgm:prSet/>
      <dgm:spPr/>
      <dgm:t>
        <a:bodyPr/>
        <a:lstStyle/>
        <a:p>
          <a:endParaRPr lang="en-US"/>
        </a:p>
      </dgm:t>
    </dgm:pt>
    <dgm:pt modelId="{EC178275-735E-4564-A2AA-6626918E1B9F}" type="sibTrans" cxnId="{349F6654-1859-4DCA-A7FA-7F924861CEA7}">
      <dgm:prSet>
        <dgm:style>
          <a:lnRef idx="1">
            <a:schemeClr val="dk1"/>
          </a:lnRef>
          <a:fillRef idx="0">
            <a:schemeClr val="dk1"/>
          </a:fillRef>
          <a:effectRef idx="0">
            <a:schemeClr val="dk1"/>
          </a:effectRef>
          <a:fontRef idx="minor">
            <a:schemeClr val="tx1"/>
          </a:fontRef>
        </dgm:style>
      </dgm:prSet>
      <dgm:spPr/>
      <dgm:t>
        <a:bodyPr/>
        <a:lstStyle/>
        <a:p>
          <a:endParaRPr lang="en-US"/>
        </a:p>
      </dgm:t>
    </dgm:pt>
    <dgm:pt modelId="{4FF5F2B6-8A61-43D6-81F4-C7A1FEB672E1}">
      <dgm:prSet phldrT="[Text]" custT="1">
        <dgm:style>
          <a:lnRef idx="2">
            <a:schemeClr val="dk1"/>
          </a:lnRef>
          <a:fillRef idx="1">
            <a:schemeClr val="lt1"/>
          </a:fillRef>
          <a:effectRef idx="0">
            <a:schemeClr val="dk1"/>
          </a:effectRef>
          <a:fontRef idx="minor">
            <a:schemeClr val="dk1"/>
          </a:fontRef>
        </dgm:style>
      </dgm:prSet>
      <dgm:spPr/>
      <dgm:t>
        <a:bodyPr/>
        <a:lstStyle/>
        <a:p>
          <a:r>
            <a:rPr lang="en-US" sz="1400" dirty="0"/>
            <a:t>User</a:t>
          </a:r>
        </a:p>
      </dgm:t>
    </dgm:pt>
    <dgm:pt modelId="{0B6C914C-EAC8-4879-B252-7143A7055A45}" type="parTrans" cxnId="{2EAFF73C-5C93-4804-B1C4-A53F95814F68}">
      <dgm:prSet/>
      <dgm:spPr/>
      <dgm:t>
        <a:bodyPr/>
        <a:lstStyle/>
        <a:p>
          <a:endParaRPr lang="en-US"/>
        </a:p>
      </dgm:t>
    </dgm:pt>
    <dgm:pt modelId="{6C4F1662-3034-4EC2-87D3-87A6798FC720}" type="sibTrans" cxnId="{2EAFF73C-5C93-4804-B1C4-A53F95814F68}">
      <dgm:prSet>
        <dgm:style>
          <a:lnRef idx="1">
            <a:schemeClr val="dk1"/>
          </a:lnRef>
          <a:fillRef idx="0">
            <a:schemeClr val="dk1"/>
          </a:fillRef>
          <a:effectRef idx="0">
            <a:schemeClr val="dk1"/>
          </a:effectRef>
          <a:fontRef idx="minor">
            <a:schemeClr val="tx1"/>
          </a:fontRef>
        </dgm:style>
      </dgm:prSet>
      <dgm:spPr/>
      <dgm:t>
        <a:bodyPr/>
        <a:lstStyle/>
        <a:p>
          <a:endParaRPr lang="en-US"/>
        </a:p>
      </dgm:t>
    </dgm:pt>
    <dgm:pt modelId="{31F2761F-071B-4948-9A0D-C091AA07CCAD}">
      <dgm:prSet custT="1">
        <dgm:style>
          <a:lnRef idx="2">
            <a:schemeClr val="dk1"/>
          </a:lnRef>
          <a:fillRef idx="1">
            <a:schemeClr val="lt1"/>
          </a:fillRef>
          <a:effectRef idx="0">
            <a:schemeClr val="dk1"/>
          </a:effectRef>
          <a:fontRef idx="minor">
            <a:schemeClr val="dk1"/>
          </a:fontRef>
        </dgm:style>
      </dgm:prSet>
      <dgm:spPr/>
      <dgm:t>
        <a:bodyPr/>
        <a:lstStyle/>
        <a:p>
          <a:r>
            <a:rPr lang="en-US" sz="1400" dirty="0"/>
            <a:t>Code (Process on input)</a:t>
          </a:r>
        </a:p>
      </dgm:t>
    </dgm:pt>
    <dgm:pt modelId="{2FB64EE9-CA6E-4773-9E5F-51CE5A7C0152}" type="parTrans" cxnId="{56D1F46E-71D7-41ED-A9A9-391BB4164BBA}">
      <dgm:prSet/>
      <dgm:spPr/>
      <dgm:t>
        <a:bodyPr/>
        <a:lstStyle/>
        <a:p>
          <a:endParaRPr lang="en-US"/>
        </a:p>
      </dgm:t>
    </dgm:pt>
    <dgm:pt modelId="{E4DF62FB-C7B5-4F7C-891D-FA9358A20240}" type="sibTrans" cxnId="{56D1F46E-71D7-41ED-A9A9-391BB4164BBA}">
      <dgm:prSet>
        <dgm:style>
          <a:lnRef idx="1">
            <a:schemeClr val="dk1"/>
          </a:lnRef>
          <a:fillRef idx="0">
            <a:schemeClr val="dk1"/>
          </a:fillRef>
          <a:effectRef idx="0">
            <a:schemeClr val="dk1"/>
          </a:effectRef>
          <a:fontRef idx="minor">
            <a:schemeClr val="tx1"/>
          </a:fontRef>
        </dgm:style>
      </dgm:prSet>
      <dgm:spPr/>
      <dgm:t>
        <a:bodyPr/>
        <a:lstStyle/>
        <a:p>
          <a:endParaRPr lang="en-US"/>
        </a:p>
      </dgm:t>
    </dgm:pt>
    <dgm:pt modelId="{D5E9A99E-4B99-4B44-A255-A15104E39804}">
      <dgm:prSet custT="1">
        <dgm:style>
          <a:lnRef idx="2">
            <a:schemeClr val="dk1"/>
          </a:lnRef>
          <a:fillRef idx="1">
            <a:schemeClr val="lt1"/>
          </a:fillRef>
          <a:effectRef idx="0">
            <a:schemeClr val="dk1"/>
          </a:effectRef>
          <a:fontRef idx="minor">
            <a:schemeClr val="dk1"/>
          </a:fontRef>
        </dgm:style>
      </dgm:prSet>
      <dgm:spPr/>
      <dgm:t>
        <a:bodyPr/>
        <a:lstStyle/>
        <a:p>
          <a:r>
            <a:rPr lang="en-US" sz="1400" dirty="0"/>
            <a:t>Recognize querys</a:t>
          </a:r>
        </a:p>
      </dgm:t>
    </dgm:pt>
    <dgm:pt modelId="{DE47492C-CB29-4994-AB19-1E49B3D991DE}" type="parTrans" cxnId="{F1B2D1C1-5113-46A6-B341-37D3CF0E6A84}">
      <dgm:prSet/>
      <dgm:spPr/>
      <dgm:t>
        <a:bodyPr/>
        <a:lstStyle/>
        <a:p>
          <a:endParaRPr lang="en-US"/>
        </a:p>
      </dgm:t>
    </dgm:pt>
    <dgm:pt modelId="{C4A86686-AA3E-4093-A980-1B3DA4DB3CB8}" type="sibTrans" cxnId="{F1B2D1C1-5113-46A6-B341-37D3CF0E6A84}">
      <dgm:prSet>
        <dgm:style>
          <a:lnRef idx="1">
            <a:schemeClr val="dk1"/>
          </a:lnRef>
          <a:fillRef idx="0">
            <a:schemeClr val="dk1"/>
          </a:fillRef>
          <a:effectRef idx="0">
            <a:schemeClr val="dk1"/>
          </a:effectRef>
          <a:fontRef idx="minor">
            <a:schemeClr val="tx1"/>
          </a:fontRef>
        </dgm:style>
      </dgm:prSet>
      <dgm:spPr/>
      <dgm:t>
        <a:bodyPr/>
        <a:lstStyle/>
        <a:p>
          <a:endParaRPr lang="en-US"/>
        </a:p>
      </dgm:t>
    </dgm:pt>
    <dgm:pt modelId="{A110F1DB-555D-4F15-A1DE-0B328B9BD458}" type="pres">
      <dgm:prSet presAssocID="{4DEC1E37-52ED-4E95-AC2A-51416C345F9E}" presName="cycle" presStyleCnt="0">
        <dgm:presLayoutVars>
          <dgm:dir/>
          <dgm:resizeHandles val="exact"/>
        </dgm:presLayoutVars>
      </dgm:prSet>
      <dgm:spPr/>
      <dgm:t>
        <a:bodyPr/>
        <a:lstStyle/>
        <a:p>
          <a:endParaRPr lang="en-US"/>
        </a:p>
      </dgm:t>
    </dgm:pt>
    <dgm:pt modelId="{88155E79-1E11-4C37-B8D5-7DDE1F4502DF}" type="pres">
      <dgm:prSet presAssocID="{3EE29C9B-A812-4EE0-A1C9-94DA09179CEE}" presName="node" presStyleLbl="node1" presStyleIdx="0" presStyleCnt="6" custScaleX="107731" custScaleY="47055">
        <dgm:presLayoutVars>
          <dgm:bulletEnabled val="1"/>
        </dgm:presLayoutVars>
      </dgm:prSet>
      <dgm:spPr>
        <a:prstGeom prst="rect">
          <a:avLst/>
        </a:prstGeom>
      </dgm:spPr>
      <dgm:t>
        <a:bodyPr/>
        <a:lstStyle/>
        <a:p>
          <a:endParaRPr lang="en-US"/>
        </a:p>
      </dgm:t>
    </dgm:pt>
    <dgm:pt modelId="{3730D0E0-8005-4C2E-98AA-BE7FF74A416B}" type="pres">
      <dgm:prSet presAssocID="{3EE29C9B-A812-4EE0-A1C9-94DA09179CEE}" presName="spNode" presStyleCnt="0"/>
      <dgm:spPr/>
    </dgm:pt>
    <dgm:pt modelId="{BDB59F5F-64B1-464D-B9E0-6EF4CF50A14D}" type="pres">
      <dgm:prSet presAssocID="{42824404-05D5-44AC-9996-0CBD6B44CEDF}" presName="sibTrans" presStyleLbl="sibTrans1D1" presStyleIdx="0" presStyleCnt="6"/>
      <dgm:spPr/>
      <dgm:t>
        <a:bodyPr/>
        <a:lstStyle/>
        <a:p>
          <a:endParaRPr lang="en-US"/>
        </a:p>
      </dgm:t>
    </dgm:pt>
    <dgm:pt modelId="{BB468A9E-B55A-4A30-80CA-1A8F2943C659}" type="pres">
      <dgm:prSet presAssocID="{150478BD-EE30-4242-ADD3-A4D6F9EB6AE7}" presName="node" presStyleLbl="node1" presStyleIdx="1" presStyleCnt="6" custScaleX="123784" custScaleY="52543">
        <dgm:presLayoutVars>
          <dgm:bulletEnabled val="1"/>
        </dgm:presLayoutVars>
      </dgm:prSet>
      <dgm:spPr>
        <a:prstGeom prst="rect">
          <a:avLst/>
        </a:prstGeom>
      </dgm:spPr>
      <dgm:t>
        <a:bodyPr/>
        <a:lstStyle/>
        <a:p>
          <a:endParaRPr lang="en-US"/>
        </a:p>
      </dgm:t>
    </dgm:pt>
    <dgm:pt modelId="{5E6E3592-4A2A-427C-B5B0-8824E3AD727C}" type="pres">
      <dgm:prSet presAssocID="{150478BD-EE30-4242-ADD3-A4D6F9EB6AE7}" presName="spNode" presStyleCnt="0"/>
      <dgm:spPr/>
    </dgm:pt>
    <dgm:pt modelId="{A0CF4A9F-FE77-4314-93DA-E2E869C0BC93}" type="pres">
      <dgm:prSet presAssocID="{F62065D6-BAE4-4085-86B3-E231C35A663A}" presName="sibTrans" presStyleLbl="sibTrans1D1" presStyleIdx="1" presStyleCnt="6"/>
      <dgm:spPr/>
      <dgm:t>
        <a:bodyPr/>
        <a:lstStyle/>
        <a:p>
          <a:endParaRPr lang="en-US"/>
        </a:p>
      </dgm:t>
    </dgm:pt>
    <dgm:pt modelId="{54169445-72BD-4BC5-91E0-522B3F6C3B65}" type="pres">
      <dgm:prSet presAssocID="{D5E9A99E-4B99-4B44-A255-A15104E39804}" presName="node" presStyleLbl="node1" presStyleIdx="2" presStyleCnt="6" custScaleY="64194" custRadScaleRad="95695" custRadScaleInc="-75864">
        <dgm:presLayoutVars>
          <dgm:bulletEnabled val="1"/>
        </dgm:presLayoutVars>
      </dgm:prSet>
      <dgm:spPr>
        <a:prstGeom prst="rect">
          <a:avLst/>
        </a:prstGeom>
      </dgm:spPr>
      <dgm:t>
        <a:bodyPr/>
        <a:lstStyle/>
        <a:p>
          <a:endParaRPr lang="en-US"/>
        </a:p>
      </dgm:t>
    </dgm:pt>
    <dgm:pt modelId="{74048A29-FE55-43D1-8F33-D6E040692DFA}" type="pres">
      <dgm:prSet presAssocID="{D5E9A99E-4B99-4B44-A255-A15104E39804}" presName="spNode" presStyleCnt="0"/>
      <dgm:spPr/>
    </dgm:pt>
    <dgm:pt modelId="{EF5CE893-2255-42BD-8C10-4EA24F0C93A5}" type="pres">
      <dgm:prSet presAssocID="{C4A86686-AA3E-4093-A980-1B3DA4DB3CB8}" presName="sibTrans" presStyleLbl="sibTrans1D1" presStyleIdx="2" presStyleCnt="6"/>
      <dgm:spPr/>
      <dgm:t>
        <a:bodyPr/>
        <a:lstStyle/>
        <a:p>
          <a:endParaRPr lang="en-US"/>
        </a:p>
      </dgm:t>
    </dgm:pt>
    <dgm:pt modelId="{219BC804-B80D-43E7-9C24-470AFD82E9B5}" type="pres">
      <dgm:prSet presAssocID="{31F2761F-071B-4948-9A0D-C091AA07CCAD}" presName="node" presStyleLbl="node1" presStyleIdx="3" presStyleCnt="6" custScaleY="67810" custRadScaleRad="78922" custRadScaleInc="-9372">
        <dgm:presLayoutVars>
          <dgm:bulletEnabled val="1"/>
        </dgm:presLayoutVars>
      </dgm:prSet>
      <dgm:spPr>
        <a:prstGeom prst="rect">
          <a:avLst/>
        </a:prstGeom>
      </dgm:spPr>
      <dgm:t>
        <a:bodyPr/>
        <a:lstStyle/>
        <a:p>
          <a:endParaRPr lang="en-US"/>
        </a:p>
      </dgm:t>
    </dgm:pt>
    <dgm:pt modelId="{C2622ED1-10B8-4AD0-A59F-D111BD6873FF}" type="pres">
      <dgm:prSet presAssocID="{31F2761F-071B-4948-9A0D-C091AA07CCAD}" presName="spNode" presStyleCnt="0"/>
      <dgm:spPr/>
    </dgm:pt>
    <dgm:pt modelId="{9D500E7B-8486-4779-843D-C022652B8611}" type="pres">
      <dgm:prSet presAssocID="{E4DF62FB-C7B5-4F7C-891D-FA9358A20240}" presName="sibTrans" presStyleLbl="sibTrans1D1" presStyleIdx="3" presStyleCnt="6"/>
      <dgm:spPr/>
      <dgm:t>
        <a:bodyPr/>
        <a:lstStyle/>
        <a:p>
          <a:endParaRPr lang="en-US"/>
        </a:p>
      </dgm:t>
    </dgm:pt>
    <dgm:pt modelId="{382264B4-57A7-4856-B26D-0E466F1661A6}" type="pres">
      <dgm:prSet presAssocID="{78BA8B77-091F-48CA-A843-8766A7C041E8}" presName="node" presStyleLbl="node1" presStyleIdx="4" presStyleCnt="6" custScaleY="52078" custRadScaleRad="93196" custRadScaleInc="94215">
        <dgm:presLayoutVars>
          <dgm:bulletEnabled val="1"/>
        </dgm:presLayoutVars>
      </dgm:prSet>
      <dgm:spPr>
        <a:prstGeom prst="rect">
          <a:avLst/>
        </a:prstGeom>
      </dgm:spPr>
      <dgm:t>
        <a:bodyPr/>
        <a:lstStyle/>
        <a:p>
          <a:endParaRPr lang="en-US"/>
        </a:p>
      </dgm:t>
    </dgm:pt>
    <dgm:pt modelId="{E477F343-E44E-440B-B507-40569D08408C}" type="pres">
      <dgm:prSet presAssocID="{78BA8B77-091F-48CA-A843-8766A7C041E8}" presName="spNode" presStyleCnt="0"/>
      <dgm:spPr/>
    </dgm:pt>
    <dgm:pt modelId="{6C4E1530-CFAE-4EA6-9A36-BF52CAF34E43}" type="pres">
      <dgm:prSet presAssocID="{EC178275-735E-4564-A2AA-6626918E1B9F}" presName="sibTrans" presStyleLbl="sibTrans1D1" presStyleIdx="4" presStyleCnt="6"/>
      <dgm:spPr/>
      <dgm:t>
        <a:bodyPr/>
        <a:lstStyle/>
        <a:p>
          <a:endParaRPr lang="en-US"/>
        </a:p>
      </dgm:t>
    </dgm:pt>
    <dgm:pt modelId="{125B9780-886C-4414-9669-9AF66CBE437C}" type="pres">
      <dgm:prSet presAssocID="{4FF5F2B6-8A61-43D6-81F4-C7A1FEB672E1}" presName="node" presStyleLbl="node1" presStyleIdx="5" presStyleCnt="6" custScaleX="99756" custScaleY="45418">
        <dgm:presLayoutVars>
          <dgm:bulletEnabled val="1"/>
        </dgm:presLayoutVars>
      </dgm:prSet>
      <dgm:spPr>
        <a:prstGeom prst="rect">
          <a:avLst/>
        </a:prstGeom>
      </dgm:spPr>
      <dgm:t>
        <a:bodyPr/>
        <a:lstStyle/>
        <a:p>
          <a:endParaRPr lang="en-US"/>
        </a:p>
      </dgm:t>
    </dgm:pt>
    <dgm:pt modelId="{DC1C5CD7-A2AE-405A-B11B-C467D973E86B}" type="pres">
      <dgm:prSet presAssocID="{4FF5F2B6-8A61-43D6-81F4-C7A1FEB672E1}" presName="spNode" presStyleCnt="0"/>
      <dgm:spPr/>
    </dgm:pt>
    <dgm:pt modelId="{57685C91-96D6-44E4-BAA8-1B23DD09B9A8}" type="pres">
      <dgm:prSet presAssocID="{6C4F1662-3034-4EC2-87D3-87A6798FC720}" presName="sibTrans" presStyleLbl="sibTrans1D1" presStyleIdx="5" presStyleCnt="6"/>
      <dgm:spPr/>
      <dgm:t>
        <a:bodyPr/>
        <a:lstStyle/>
        <a:p>
          <a:endParaRPr lang="en-US"/>
        </a:p>
      </dgm:t>
    </dgm:pt>
  </dgm:ptLst>
  <dgm:cxnLst>
    <dgm:cxn modelId="{349F6654-1859-4DCA-A7FA-7F924861CEA7}" srcId="{4DEC1E37-52ED-4E95-AC2A-51416C345F9E}" destId="{78BA8B77-091F-48CA-A843-8766A7C041E8}" srcOrd="4" destOrd="0" parTransId="{0481CEA9-73A8-443F-8D1E-5A554CE815C9}" sibTransId="{EC178275-735E-4564-A2AA-6626918E1B9F}"/>
    <dgm:cxn modelId="{157E41EB-B88F-476B-89DC-8B3D0971FFF9}" type="presOf" srcId="{C4A86686-AA3E-4093-A980-1B3DA4DB3CB8}" destId="{EF5CE893-2255-42BD-8C10-4EA24F0C93A5}" srcOrd="0" destOrd="0" presId="urn:microsoft.com/office/officeart/2005/8/layout/cycle5"/>
    <dgm:cxn modelId="{24A3639E-8A1B-4DD8-8CB7-B5A68D759B94}" type="presOf" srcId="{78BA8B77-091F-48CA-A843-8766A7C041E8}" destId="{382264B4-57A7-4856-B26D-0E466F1661A6}" srcOrd="0" destOrd="0" presId="urn:microsoft.com/office/officeart/2005/8/layout/cycle5"/>
    <dgm:cxn modelId="{56D1F46E-71D7-41ED-A9A9-391BB4164BBA}" srcId="{4DEC1E37-52ED-4E95-AC2A-51416C345F9E}" destId="{31F2761F-071B-4948-9A0D-C091AA07CCAD}" srcOrd="3" destOrd="0" parTransId="{2FB64EE9-CA6E-4773-9E5F-51CE5A7C0152}" sibTransId="{E4DF62FB-C7B5-4F7C-891D-FA9358A20240}"/>
    <dgm:cxn modelId="{7D9E5E35-BD1D-4EE3-B7E7-637C60F37962}" type="presOf" srcId="{E4DF62FB-C7B5-4F7C-891D-FA9358A20240}" destId="{9D500E7B-8486-4779-843D-C022652B8611}" srcOrd="0" destOrd="0" presId="urn:microsoft.com/office/officeart/2005/8/layout/cycle5"/>
    <dgm:cxn modelId="{F3FE86DD-5701-4E97-9BEB-148E8034B5D1}" type="presOf" srcId="{4DEC1E37-52ED-4E95-AC2A-51416C345F9E}" destId="{A110F1DB-555D-4F15-A1DE-0B328B9BD458}" srcOrd="0" destOrd="0" presId="urn:microsoft.com/office/officeart/2005/8/layout/cycle5"/>
    <dgm:cxn modelId="{072BC894-BE75-4077-9127-AD614AF23CE2}" type="presOf" srcId="{3EE29C9B-A812-4EE0-A1C9-94DA09179CEE}" destId="{88155E79-1E11-4C37-B8D5-7DDE1F4502DF}" srcOrd="0" destOrd="0" presId="urn:microsoft.com/office/officeart/2005/8/layout/cycle5"/>
    <dgm:cxn modelId="{F1B2D1C1-5113-46A6-B341-37D3CF0E6A84}" srcId="{4DEC1E37-52ED-4E95-AC2A-51416C345F9E}" destId="{D5E9A99E-4B99-4B44-A255-A15104E39804}" srcOrd="2" destOrd="0" parTransId="{DE47492C-CB29-4994-AB19-1E49B3D991DE}" sibTransId="{C4A86686-AA3E-4093-A980-1B3DA4DB3CB8}"/>
    <dgm:cxn modelId="{BC1F6F59-253B-4D0B-9D78-D3AEB7DFE5E8}" type="presOf" srcId="{150478BD-EE30-4242-ADD3-A4D6F9EB6AE7}" destId="{BB468A9E-B55A-4A30-80CA-1A8F2943C659}" srcOrd="0" destOrd="0" presId="urn:microsoft.com/office/officeart/2005/8/layout/cycle5"/>
    <dgm:cxn modelId="{323C9AEF-2CAA-4079-A58B-BEB21C480E53}" type="presOf" srcId="{EC178275-735E-4564-A2AA-6626918E1B9F}" destId="{6C4E1530-CFAE-4EA6-9A36-BF52CAF34E43}" srcOrd="0" destOrd="0" presId="urn:microsoft.com/office/officeart/2005/8/layout/cycle5"/>
    <dgm:cxn modelId="{BCB38290-7284-4C63-A4D1-FAED601527FD}" type="presOf" srcId="{D5E9A99E-4B99-4B44-A255-A15104E39804}" destId="{54169445-72BD-4BC5-91E0-522B3F6C3B65}" srcOrd="0" destOrd="0" presId="urn:microsoft.com/office/officeart/2005/8/layout/cycle5"/>
    <dgm:cxn modelId="{7D28F85B-9DB8-48E4-9EFB-FF851E314016}" type="presOf" srcId="{6C4F1662-3034-4EC2-87D3-87A6798FC720}" destId="{57685C91-96D6-44E4-BAA8-1B23DD09B9A8}" srcOrd="0" destOrd="0" presId="urn:microsoft.com/office/officeart/2005/8/layout/cycle5"/>
    <dgm:cxn modelId="{8FBF41B9-FEFC-4E94-9BAE-DF6830E414BC}" type="presOf" srcId="{42824404-05D5-44AC-9996-0CBD6B44CEDF}" destId="{BDB59F5F-64B1-464D-B9E0-6EF4CF50A14D}" srcOrd="0" destOrd="0" presId="urn:microsoft.com/office/officeart/2005/8/layout/cycle5"/>
    <dgm:cxn modelId="{0B375117-47AB-44A0-8FB0-E67E951D23B5}" srcId="{4DEC1E37-52ED-4E95-AC2A-51416C345F9E}" destId="{150478BD-EE30-4242-ADD3-A4D6F9EB6AE7}" srcOrd="1" destOrd="0" parTransId="{96F73225-5A1E-4B4A-A516-E330148A1E0C}" sibTransId="{F62065D6-BAE4-4085-86B3-E231C35A663A}"/>
    <dgm:cxn modelId="{DB39178D-89AC-4293-8861-CFFB6D210809}" type="presOf" srcId="{31F2761F-071B-4948-9A0D-C091AA07CCAD}" destId="{219BC804-B80D-43E7-9C24-470AFD82E9B5}" srcOrd="0" destOrd="0" presId="urn:microsoft.com/office/officeart/2005/8/layout/cycle5"/>
    <dgm:cxn modelId="{C0F3E718-DF24-4D8A-8441-CE4121CB3561}" type="presOf" srcId="{F62065D6-BAE4-4085-86B3-E231C35A663A}" destId="{A0CF4A9F-FE77-4314-93DA-E2E869C0BC93}" srcOrd="0" destOrd="0" presId="urn:microsoft.com/office/officeart/2005/8/layout/cycle5"/>
    <dgm:cxn modelId="{D4B1516D-A448-4687-8751-3E4E4234C6A5}" type="presOf" srcId="{4FF5F2B6-8A61-43D6-81F4-C7A1FEB672E1}" destId="{125B9780-886C-4414-9669-9AF66CBE437C}" srcOrd="0" destOrd="0" presId="urn:microsoft.com/office/officeart/2005/8/layout/cycle5"/>
    <dgm:cxn modelId="{40D35BA9-6B8E-44F6-958B-392470C97F3E}" srcId="{4DEC1E37-52ED-4E95-AC2A-51416C345F9E}" destId="{3EE29C9B-A812-4EE0-A1C9-94DA09179CEE}" srcOrd="0" destOrd="0" parTransId="{639B18FF-CF44-4453-8AD5-6407F8EA1884}" sibTransId="{42824404-05D5-44AC-9996-0CBD6B44CEDF}"/>
    <dgm:cxn modelId="{2EAFF73C-5C93-4804-B1C4-A53F95814F68}" srcId="{4DEC1E37-52ED-4E95-AC2A-51416C345F9E}" destId="{4FF5F2B6-8A61-43D6-81F4-C7A1FEB672E1}" srcOrd="5" destOrd="0" parTransId="{0B6C914C-EAC8-4879-B252-7143A7055A45}" sibTransId="{6C4F1662-3034-4EC2-87D3-87A6798FC720}"/>
    <dgm:cxn modelId="{8EC36646-8C83-4FC2-9450-ABBDCF8554A1}" type="presParOf" srcId="{A110F1DB-555D-4F15-A1DE-0B328B9BD458}" destId="{88155E79-1E11-4C37-B8D5-7DDE1F4502DF}" srcOrd="0" destOrd="0" presId="urn:microsoft.com/office/officeart/2005/8/layout/cycle5"/>
    <dgm:cxn modelId="{EEDB57B0-4F2F-459F-B90C-993EA223CC55}" type="presParOf" srcId="{A110F1DB-555D-4F15-A1DE-0B328B9BD458}" destId="{3730D0E0-8005-4C2E-98AA-BE7FF74A416B}" srcOrd="1" destOrd="0" presId="urn:microsoft.com/office/officeart/2005/8/layout/cycle5"/>
    <dgm:cxn modelId="{B4D62EA3-C01E-4B57-BEB6-30E5C112751E}" type="presParOf" srcId="{A110F1DB-555D-4F15-A1DE-0B328B9BD458}" destId="{BDB59F5F-64B1-464D-B9E0-6EF4CF50A14D}" srcOrd="2" destOrd="0" presId="urn:microsoft.com/office/officeart/2005/8/layout/cycle5"/>
    <dgm:cxn modelId="{3369D11B-E698-482A-90FE-98C1F3685449}" type="presParOf" srcId="{A110F1DB-555D-4F15-A1DE-0B328B9BD458}" destId="{BB468A9E-B55A-4A30-80CA-1A8F2943C659}" srcOrd="3" destOrd="0" presId="urn:microsoft.com/office/officeart/2005/8/layout/cycle5"/>
    <dgm:cxn modelId="{010E09F9-9CA0-4EC1-8436-411C70B5ECBC}" type="presParOf" srcId="{A110F1DB-555D-4F15-A1DE-0B328B9BD458}" destId="{5E6E3592-4A2A-427C-B5B0-8824E3AD727C}" srcOrd="4" destOrd="0" presId="urn:microsoft.com/office/officeart/2005/8/layout/cycle5"/>
    <dgm:cxn modelId="{2DDBCF79-9FB9-4486-8CF1-687243E2D9DF}" type="presParOf" srcId="{A110F1DB-555D-4F15-A1DE-0B328B9BD458}" destId="{A0CF4A9F-FE77-4314-93DA-E2E869C0BC93}" srcOrd="5" destOrd="0" presId="urn:microsoft.com/office/officeart/2005/8/layout/cycle5"/>
    <dgm:cxn modelId="{F910EC08-0DA4-4880-9C3B-87875D934F61}" type="presParOf" srcId="{A110F1DB-555D-4F15-A1DE-0B328B9BD458}" destId="{54169445-72BD-4BC5-91E0-522B3F6C3B65}" srcOrd="6" destOrd="0" presId="urn:microsoft.com/office/officeart/2005/8/layout/cycle5"/>
    <dgm:cxn modelId="{9E944478-7E57-4BEB-830A-6A1E32C87FA4}" type="presParOf" srcId="{A110F1DB-555D-4F15-A1DE-0B328B9BD458}" destId="{74048A29-FE55-43D1-8F33-D6E040692DFA}" srcOrd="7" destOrd="0" presId="urn:microsoft.com/office/officeart/2005/8/layout/cycle5"/>
    <dgm:cxn modelId="{E52A6824-B72A-448F-B84F-F5DA769EF007}" type="presParOf" srcId="{A110F1DB-555D-4F15-A1DE-0B328B9BD458}" destId="{EF5CE893-2255-42BD-8C10-4EA24F0C93A5}" srcOrd="8" destOrd="0" presId="urn:microsoft.com/office/officeart/2005/8/layout/cycle5"/>
    <dgm:cxn modelId="{A0C5182F-92AE-4397-BB1C-3A4EB56E0BE5}" type="presParOf" srcId="{A110F1DB-555D-4F15-A1DE-0B328B9BD458}" destId="{219BC804-B80D-43E7-9C24-470AFD82E9B5}" srcOrd="9" destOrd="0" presId="urn:microsoft.com/office/officeart/2005/8/layout/cycle5"/>
    <dgm:cxn modelId="{20514A9E-9930-41D6-BCC8-02D2257B3C72}" type="presParOf" srcId="{A110F1DB-555D-4F15-A1DE-0B328B9BD458}" destId="{C2622ED1-10B8-4AD0-A59F-D111BD6873FF}" srcOrd="10" destOrd="0" presId="urn:microsoft.com/office/officeart/2005/8/layout/cycle5"/>
    <dgm:cxn modelId="{E8724401-B854-4B15-8925-F4E3F8DAF253}" type="presParOf" srcId="{A110F1DB-555D-4F15-A1DE-0B328B9BD458}" destId="{9D500E7B-8486-4779-843D-C022652B8611}" srcOrd="11" destOrd="0" presId="urn:microsoft.com/office/officeart/2005/8/layout/cycle5"/>
    <dgm:cxn modelId="{6C77103D-304B-4A07-8999-496DCB484F92}" type="presParOf" srcId="{A110F1DB-555D-4F15-A1DE-0B328B9BD458}" destId="{382264B4-57A7-4856-B26D-0E466F1661A6}" srcOrd="12" destOrd="0" presId="urn:microsoft.com/office/officeart/2005/8/layout/cycle5"/>
    <dgm:cxn modelId="{315AD9A0-BD95-49FA-B662-0753E17402E6}" type="presParOf" srcId="{A110F1DB-555D-4F15-A1DE-0B328B9BD458}" destId="{E477F343-E44E-440B-B507-40569D08408C}" srcOrd="13" destOrd="0" presId="urn:microsoft.com/office/officeart/2005/8/layout/cycle5"/>
    <dgm:cxn modelId="{CBBBD08F-488D-46CE-BD3F-ED514C6AA8A8}" type="presParOf" srcId="{A110F1DB-555D-4F15-A1DE-0B328B9BD458}" destId="{6C4E1530-CFAE-4EA6-9A36-BF52CAF34E43}" srcOrd="14" destOrd="0" presId="urn:microsoft.com/office/officeart/2005/8/layout/cycle5"/>
    <dgm:cxn modelId="{595258D0-FD09-4584-9550-E430CBD557CB}" type="presParOf" srcId="{A110F1DB-555D-4F15-A1DE-0B328B9BD458}" destId="{125B9780-886C-4414-9669-9AF66CBE437C}" srcOrd="15" destOrd="0" presId="urn:microsoft.com/office/officeart/2005/8/layout/cycle5"/>
    <dgm:cxn modelId="{9F8257C9-40FA-493D-8461-9BC42E01272A}" type="presParOf" srcId="{A110F1DB-555D-4F15-A1DE-0B328B9BD458}" destId="{DC1C5CD7-A2AE-405A-B11B-C467D973E86B}" srcOrd="16" destOrd="0" presId="urn:microsoft.com/office/officeart/2005/8/layout/cycle5"/>
    <dgm:cxn modelId="{0FE774F1-7D3F-4E31-9BCD-9B1618129EDE}" type="presParOf" srcId="{A110F1DB-555D-4F15-A1DE-0B328B9BD458}" destId="{57685C91-96D6-44E4-BAA8-1B23DD09B9A8}" srcOrd="17"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55E79-1E11-4C37-B8D5-7DDE1F4502DF}">
      <dsp:nvSpPr>
        <dsp:cNvPr id="0" name=""/>
        <dsp:cNvSpPr/>
      </dsp:nvSpPr>
      <dsp:spPr>
        <a:xfrm>
          <a:off x="2912453" y="228521"/>
          <a:ext cx="1762195" cy="500302"/>
        </a:xfrm>
        <a:prstGeom prst="rect">
          <a:avLst/>
        </a:prstGeom>
        <a:solidFill>
          <a:schemeClr val="lt1"/>
        </a:solidFill>
        <a:ln w="15875"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a:t>Input (Voice)</a:t>
          </a:r>
          <a:endParaRPr lang="en-US" sz="900" kern="1200" dirty="0"/>
        </a:p>
      </dsp:txBody>
      <dsp:txXfrm>
        <a:off x="2912453" y="228521"/>
        <a:ext cx="1762195" cy="500302"/>
      </dsp:txXfrm>
    </dsp:sp>
    <dsp:sp modelId="{BDB59F5F-64B1-464D-B9E0-6EF4CF50A14D}">
      <dsp:nvSpPr>
        <dsp:cNvPr id="0" name=""/>
        <dsp:cNvSpPr/>
      </dsp:nvSpPr>
      <dsp:spPr>
        <a:xfrm>
          <a:off x="1290505" y="478672"/>
          <a:ext cx="5006092" cy="5006092"/>
        </a:xfrm>
        <a:custGeom>
          <a:avLst/>
          <a:gdLst/>
          <a:ahLst/>
          <a:cxnLst/>
          <a:rect l="0" t="0" r="0" b="0"/>
          <a:pathLst>
            <a:path>
              <a:moveTo>
                <a:pt x="3634219" y="270180"/>
              </a:moveTo>
              <a:arcTo wR="2503046" hR="2503046" stAng="17812010" swAng="1150305"/>
            </a:path>
          </a:pathLst>
        </a:custGeom>
        <a:noFill/>
        <a:ln w="9525" cap="flat" cmpd="sng" algn="ctr">
          <a:solidFill>
            <a:schemeClr val="dk1"/>
          </a:solidFill>
          <a:prstDash val="solid"/>
          <a:tailEnd type="arrow"/>
        </a:ln>
        <a:effectLst/>
      </dsp:spPr>
      <dsp:style>
        <a:lnRef idx="1">
          <a:schemeClr val="dk1"/>
        </a:lnRef>
        <a:fillRef idx="0">
          <a:schemeClr val="dk1"/>
        </a:fillRef>
        <a:effectRef idx="0">
          <a:schemeClr val="dk1"/>
        </a:effectRef>
        <a:fontRef idx="minor">
          <a:schemeClr val="tx1"/>
        </a:fontRef>
      </dsp:style>
    </dsp:sp>
    <dsp:sp modelId="{BB468A9E-B55A-4A30-80CA-1A8F2943C659}">
      <dsp:nvSpPr>
        <dsp:cNvPr id="0" name=""/>
        <dsp:cNvSpPr/>
      </dsp:nvSpPr>
      <dsp:spPr>
        <a:xfrm>
          <a:off x="4948862" y="1450869"/>
          <a:ext cx="2024780" cy="558652"/>
        </a:xfrm>
        <a:prstGeom prst="rect">
          <a:avLst/>
        </a:prstGeom>
        <a:solidFill>
          <a:schemeClr val="lt1"/>
        </a:solidFill>
        <a:ln w="15875"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a:t>Language Model</a:t>
          </a:r>
        </a:p>
      </dsp:txBody>
      <dsp:txXfrm>
        <a:off x="4948862" y="1450869"/>
        <a:ext cx="2024780" cy="558652"/>
      </dsp:txXfrm>
    </dsp:sp>
    <dsp:sp modelId="{A0CF4A9F-FE77-4314-93DA-E2E869C0BC93}">
      <dsp:nvSpPr>
        <dsp:cNvPr id="0" name=""/>
        <dsp:cNvSpPr/>
      </dsp:nvSpPr>
      <dsp:spPr>
        <a:xfrm>
          <a:off x="1213614" y="271038"/>
          <a:ext cx="5006092" cy="5006092"/>
        </a:xfrm>
        <a:custGeom>
          <a:avLst/>
          <a:gdLst/>
          <a:ahLst/>
          <a:cxnLst/>
          <a:rect l="0" t="0" r="0" b="0"/>
          <a:pathLst>
            <a:path>
              <a:moveTo>
                <a:pt x="4950658" y="1979179"/>
              </a:moveTo>
              <a:arcTo wR="2503046" hR="2503046" stAng="20875149" swAng="1045002"/>
            </a:path>
          </a:pathLst>
        </a:custGeom>
        <a:noFill/>
        <a:ln w="9525" cap="flat" cmpd="sng" algn="ctr">
          <a:solidFill>
            <a:schemeClr val="dk1"/>
          </a:solidFill>
          <a:prstDash val="solid"/>
          <a:tailEnd type="arrow"/>
        </a:ln>
        <a:effectLst/>
      </dsp:spPr>
      <dsp:style>
        <a:lnRef idx="1">
          <a:schemeClr val="dk1"/>
        </a:lnRef>
        <a:fillRef idx="0">
          <a:schemeClr val="dk1"/>
        </a:fillRef>
        <a:effectRef idx="0">
          <a:schemeClr val="dk1"/>
        </a:effectRef>
        <a:fontRef idx="minor">
          <a:schemeClr val="tx1"/>
        </a:fontRef>
      </dsp:style>
    </dsp:sp>
    <dsp:sp modelId="{54169445-72BD-4BC5-91E0-522B3F6C3B65}">
      <dsp:nvSpPr>
        <dsp:cNvPr id="0" name=""/>
        <dsp:cNvSpPr/>
      </dsp:nvSpPr>
      <dsp:spPr>
        <a:xfrm>
          <a:off x="5291214" y="3253420"/>
          <a:ext cx="1635737" cy="682529"/>
        </a:xfrm>
        <a:prstGeom prst="rect">
          <a:avLst/>
        </a:prstGeom>
        <a:solidFill>
          <a:schemeClr val="lt1"/>
        </a:solidFill>
        <a:ln w="15875"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a:t>Recognize querys</a:t>
          </a:r>
        </a:p>
      </dsp:txBody>
      <dsp:txXfrm>
        <a:off x="5291214" y="3253420"/>
        <a:ext cx="1635737" cy="682529"/>
      </dsp:txXfrm>
    </dsp:sp>
    <dsp:sp modelId="{EF5CE893-2255-42BD-8C10-4EA24F0C93A5}">
      <dsp:nvSpPr>
        <dsp:cNvPr id="0" name=""/>
        <dsp:cNvSpPr/>
      </dsp:nvSpPr>
      <dsp:spPr>
        <a:xfrm>
          <a:off x="1577808" y="-185199"/>
          <a:ext cx="5006092" cy="5006092"/>
        </a:xfrm>
        <a:custGeom>
          <a:avLst/>
          <a:gdLst/>
          <a:ahLst/>
          <a:cxnLst/>
          <a:rect l="0" t="0" r="0" b="0"/>
          <a:pathLst>
            <a:path>
              <a:moveTo>
                <a:pt x="4198870" y="4344084"/>
              </a:moveTo>
              <a:arcTo wR="2503046" hR="2503046" stAng="2841066" swAng="1309012"/>
            </a:path>
          </a:pathLst>
        </a:custGeom>
        <a:noFill/>
        <a:ln w="9525" cap="flat" cmpd="sng" algn="ctr">
          <a:solidFill>
            <a:schemeClr val="dk1"/>
          </a:solidFill>
          <a:prstDash val="solid"/>
          <a:tailEnd type="arrow"/>
        </a:ln>
        <a:effectLst/>
      </dsp:spPr>
      <dsp:style>
        <a:lnRef idx="1">
          <a:schemeClr val="dk1"/>
        </a:lnRef>
        <a:fillRef idx="0">
          <a:schemeClr val="dk1"/>
        </a:fillRef>
        <a:effectRef idx="0">
          <a:schemeClr val="dk1"/>
        </a:effectRef>
        <a:fontRef idx="minor">
          <a:schemeClr val="tx1"/>
        </a:fontRef>
      </dsp:style>
    </dsp:sp>
    <dsp:sp modelId="{219BC804-B80D-43E7-9C24-470AFD82E9B5}">
      <dsp:nvSpPr>
        <dsp:cNvPr id="0" name=""/>
        <dsp:cNvSpPr/>
      </dsp:nvSpPr>
      <dsp:spPr>
        <a:xfrm>
          <a:off x="3040297" y="4595628"/>
          <a:ext cx="1635737" cy="720975"/>
        </a:xfrm>
        <a:prstGeom prst="rect">
          <a:avLst/>
        </a:prstGeom>
        <a:solidFill>
          <a:schemeClr val="lt1"/>
        </a:solidFill>
        <a:ln w="15875"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a:t>Code (Process on input)</a:t>
          </a:r>
        </a:p>
      </dsp:txBody>
      <dsp:txXfrm>
        <a:off x="3040297" y="4595628"/>
        <a:ext cx="1635737" cy="720975"/>
      </dsp:txXfrm>
    </dsp:sp>
    <dsp:sp modelId="{9D500E7B-8486-4779-843D-C022652B8611}">
      <dsp:nvSpPr>
        <dsp:cNvPr id="0" name=""/>
        <dsp:cNvSpPr/>
      </dsp:nvSpPr>
      <dsp:spPr>
        <a:xfrm>
          <a:off x="1204440" y="-107609"/>
          <a:ext cx="5006092" cy="5006092"/>
        </a:xfrm>
        <a:custGeom>
          <a:avLst/>
          <a:gdLst/>
          <a:ahLst/>
          <a:cxnLst/>
          <a:rect l="0" t="0" r="0" b="0"/>
          <a:pathLst>
            <a:path>
              <a:moveTo>
                <a:pt x="1491638" y="4792652"/>
              </a:moveTo>
              <a:arcTo wR="2503046" hR="2503046" stAng="6829975" swAng="1566829"/>
            </a:path>
          </a:pathLst>
        </a:custGeom>
        <a:noFill/>
        <a:ln w="9525" cap="flat" cmpd="sng" algn="ctr">
          <a:solidFill>
            <a:schemeClr val="dk1"/>
          </a:solidFill>
          <a:prstDash val="solid"/>
          <a:tailEnd type="arrow"/>
        </a:ln>
        <a:effectLst/>
      </dsp:spPr>
      <dsp:style>
        <a:lnRef idx="1">
          <a:schemeClr val="dk1"/>
        </a:lnRef>
        <a:fillRef idx="0">
          <a:schemeClr val="dk1"/>
        </a:fillRef>
        <a:effectRef idx="0">
          <a:schemeClr val="dk1"/>
        </a:effectRef>
        <a:fontRef idx="minor">
          <a:schemeClr val="tx1"/>
        </a:fontRef>
      </dsp:style>
    </dsp:sp>
    <dsp:sp modelId="{382264B4-57A7-4856-B26D-0E466F1661A6}">
      <dsp:nvSpPr>
        <dsp:cNvPr id="0" name=""/>
        <dsp:cNvSpPr/>
      </dsp:nvSpPr>
      <dsp:spPr>
        <a:xfrm>
          <a:off x="687031" y="3156245"/>
          <a:ext cx="1635737" cy="553708"/>
        </a:xfrm>
        <a:prstGeom prst="rect">
          <a:avLst/>
        </a:prstGeom>
        <a:solidFill>
          <a:schemeClr val="lt1"/>
        </a:solidFill>
        <a:ln w="15875"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a:t>Output (Speaker)</a:t>
          </a:r>
        </a:p>
      </dsp:txBody>
      <dsp:txXfrm>
        <a:off x="687031" y="3156245"/>
        <a:ext cx="1635737" cy="553708"/>
      </dsp:txXfrm>
    </dsp:sp>
    <dsp:sp modelId="{6C4E1530-CFAE-4EA6-9A36-BF52CAF34E43}">
      <dsp:nvSpPr>
        <dsp:cNvPr id="0" name=""/>
        <dsp:cNvSpPr/>
      </dsp:nvSpPr>
      <dsp:spPr>
        <a:xfrm>
          <a:off x="1413076" y="134783"/>
          <a:ext cx="5006092" cy="5006092"/>
        </a:xfrm>
        <a:custGeom>
          <a:avLst/>
          <a:gdLst/>
          <a:ahLst/>
          <a:cxnLst/>
          <a:rect l="0" t="0" r="0" b="0"/>
          <a:pathLst>
            <a:path>
              <a:moveTo>
                <a:pt x="16226" y="2787595"/>
              </a:moveTo>
              <a:arcTo wR="2503046" hR="2503046" stAng="10408346" swAng="992228"/>
            </a:path>
          </a:pathLst>
        </a:custGeom>
        <a:noFill/>
        <a:ln w="9525" cap="flat" cmpd="sng" algn="ctr">
          <a:solidFill>
            <a:schemeClr val="dk1"/>
          </a:solidFill>
          <a:prstDash val="solid"/>
          <a:tailEnd type="arrow"/>
        </a:ln>
        <a:effectLst/>
      </dsp:spPr>
      <dsp:style>
        <a:lnRef idx="1">
          <a:schemeClr val="dk1"/>
        </a:lnRef>
        <a:fillRef idx="0">
          <a:schemeClr val="dk1"/>
        </a:fillRef>
        <a:effectRef idx="0">
          <a:schemeClr val="dk1"/>
        </a:effectRef>
        <a:fontRef idx="minor">
          <a:schemeClr val="tx1"/>
        </a:fontRef>
      </dsp:style>
    </dsp:sp>
    <dsp:sp modelId="{125B9780-886C-4414-9669-9AF66CBE437C}">
      <dsp:nvSpPr>
        <dsp:cNvPr id="0" name=""/>
        <dsp:cNvSpPr/>
      </dsp:nvSpPr>
      <dsp:spPr>
        <a:xfrm>
          <a:off x="809976" y="1488747"/>
          <a:ext cx="1631745" cy="482897"/>
        </a:xfrm>
        <a:prstGeom prst="rect">
          <a:avLst/>
        </a:prstGeom>
        <a:solidFill>
          <a:schemeClr val="lt1"/>
        </a:solidFill>
        <a:ln w="15875"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a:t>User</a:t>
          </a:r>
        </a:p>
      </dsp:txBody>
      <dsp:txXfrm>
        <a:off x="809976" y="1488747"/>
        <a:ext cx="1631745" cy="482897"/>
      </dsp:txXfrm>
    </dsp:sp>
    <dsp:sp modelId="{57685C91-96D6-44E4-BAA8-1B23DD09B9A8}">
      <dsp:nvSpPr>
        <dsp:cNvPr id="0" name=""/>
        <dsp:cNvSpPr/>
      </dsp:nvSpPr>
      <dsp:spPr>
        <a:xfrm>
          <a:off x="1290505" y="478672"/>
          <a:ext cx="5006092" cy="5006092"/>
        </a:xfrm>
        <a:custGeom>
          <a:avLst/>
          <a:gdLst/>
          <a:ahLst/>
          <a:cxnLst/>
          <a:rect l="0" t="0" r="0" b="0"/>
          <a:pathLst>
            <a:path>
              <a:moveTo>
                <a:pt x="674893" y="793339"/>
              </a:moveTo>
              <a:arcTo wR="2503046" hR="2503046" stAng="13384949" swAng="1190498"/>
            </a:path>
          </a:pathLst>
        </a:custGeom>
        <a:noFill/>
        <a:ln w="9525" cap="flat" cmpd="sng" algn="ctr">
          <a:solidFill>
            <a:schemeClr val="dk1"/>
          </a:solidFill>
          <a:prstDash val="solid"/>
          <a:tailEnd type="arrow"/>
        </a:ln>
        <a:effectLst/>
      </dsp:spPr>
      <dsp:style>
        <a:lnRef idx="1">
          <a:schemeClr val="dk1"/>
        </a:lnRef>
        <a:fillRef idx="0">
          <a:schemeClr val="dk1"/>
        </a:fillRef>
        <a:effectRef idx="0">
          <a:schemeClr val="dk1"/>
        </a:effectRef>
        <a:fontRef idx="minor">
          <a:schemeClr val="tx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DCD404F-D2B9-4E56-BD4E-F1F1B1CFDBE0}" type="datetimeFigureOut">
              <a:rPr lang="en-IN" smtClean="0"/>
              <a:pPr/>
              <a:t>24-03-2025</a:t>
            </a:fld>
            <a:endParaRPr lang="en-IN" dirty="0"/>
          </a:p>
        </p:txBody>
      </p:sp>
      <p:sp>
        <p:nvSpPr>
          <p:cNvPr id="5" name="Footer Placeholder 4"/>
          <p:cNvSpPr>
            <a:spLocks noGrp="1"/>
          </p:cNvSpPr>
          <p:nvPr>
            <p:ph type="ftr" sz="quarter" idx="11"/>
          </p:nvPr>
        </p:nvSpPr>
        <p:spPr>
          <a:xfrm>
            <a:off x="1876424" y="5410201"/>
            <a:ext cx="5124886" cy="365125"/>
          </a:xfrm>
        </p:spPr>
        <p:txBody>
          <a:bodyPr/>
          <a:lstStyle/>
          <a:p>
            <a:endParaRPr lang="en-IN" dirty="0"/>
          </a:p>
        </p:txBody>
      </p:sp>
      <p:sp>
        <p:nvSpPr>
          <p:cNvPr id="6" name="Slide Number Placeholder 5"/>
          <p:cNvSpPr>
            <a:spLocks noGrp="1"/>
          </p:cNvSpPr>
          <p:nvPr>
            <p:ph type="sldNum" sz="quarter" idx="12"/>
          </p:nvPr>
        </p:nvSpPr>
        <p:spPr>
          <a:xfrm>
            <a:off x="9896911" y="5410199"/>
            <a:ext cx="771089" cy="365125"/>
          </a:xfrm>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322775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3352889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3766704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12475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4137312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3671960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1071687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1202284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3511792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1847173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987917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92227C7-14C9-45A5-AF92-61A8CD95F6CB}" type="slidenum">
              <a:rPr lang="en-IN" smtClean="0"/>
              <a:pPr/>
              <a:t>‹#›</a:t>
            </a:fld>
            <a:endParaRPr lang="en-IN"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6010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409050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1666418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7935163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9127809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DCD404F-D2B9-4E56-BD4E-F1F1B1CFDBE0}" type="datetimeFigureOut">
              <a:rPr lang="en-IN" smtClean="0"/>
              <a:pPr/>
              <a:t>24-03-2025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3533195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DCD404F-D2B9-4E56-BD4E-F1F1B1CFDBE0}" type="datetimeFigureOut">
              <a:rPr lang="en-IN" smtClean="0"/>
              <a:pPr/>
              <a:t>24-03-2025</a:t>
            </a:fld>
            <a:endParaRPr lang="en-IN"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92227C7-14C9-45A5-AF92-61A8CD95F6CB}" type="slidenum">
              <a:rPr lang="en-IN" smtClean="0"/>
              <a:pPr/>
              <a:t>‹#›</a:t>
            </a:fld>
            <a:endParaRPr lang="en-IN" dirty="0"/>
          </a:p>
        </p:txBody>
      </p:sp>
    </p:spTree>
    <p:extLst>
      <p:ext uri="{BB962C8B-B14F-4D97-AF65-F5344CB8AC3E}">
        <p14:creationId xmlns:p14="http://schemas.microsoft.com/office/powerpoint/2010/main" val="4184391668"/>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17.xml"/><Relationship Id="rId3" Type="http://schemas.openxmlformats.org/officeDocument/2006/relationships/slide" Target="slide4.xml"/><Relationship Id="rId7" Type="http://schemas.openxmlformats.org/officeDocument/2006/relationships/slide" Target="slide10.xml"/><Relationship Id="rId12" Type="http://schemas.openxmlformats.org/officeDocument/2006/relationships/slide" Target="slide15.xml"/><Relationship Id="rId17" Type="http://schemas.openxmlformats.org/officeDocument/2006/relationships/slide" Target="slide24.xml"/><Relationship Id="rId2" Type="http://schemas.openxmlformats.org/officeDocument/2006/relationships/slide" Target="slide3.xml"/><Relationship Id="rId16" Type="http://schemas.openxmlformats.org/officeDocument/2006/relationships/slide" Target="slide23.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3.xml"/><Relationship Id="rId5" Type="http://schemas.openxmlformats.org/officeDocument/2006/relationships/slide" Target="slide6.xml"/><Relationship Id="rId15" Type="http://schemas.openxmlformats.org/officeDocument/2006/relationships/slide" Target="slide22.xml"/><Relationship Id="rId10" Type="http://schemas.openxmlformats.org/officeDocument/2006/relationships/slide" Target="slide14.xml"/><Relationship Id="rId4" Type="http://schemas.openxmlformats.org/officeDocument/2006/relationships/slide" Target="slide5.xml"/><Relationship Id="rId9" Type="http://schemas.openxmlformats.org/officeDocument/2006/relationships/slide" Target="slide12.xml"/><Relationship Id="rId14" Type="http://schemas.openxmlformats.org/officeDocument/2006/relationships/slide" Target="slide18.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slide" Target="slide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png"/><Relationship Id="rId5" Type="http://schemas.openxmlformats.org/officeDocument/2006/relationships/slide" Target="slide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tutorialspoint.com/"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hyperlink" Target="https://youtube.com/playlist?list=PLu0W_9lll9aglCnT8t4iYVSZ3eyklAOME&amp;si=GjT1C-KcXYwRmT6p" TargetMode="External"/><Relationship Id="rId4" Type="http://schemas.openxmlformats.org/officeDocument/2006/relationships/hyperlink" Target="https://www.python.org/do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45471" y="392526"/>
            <a:ext cx="7953489" cy="1237128"/>
          </a:xfrm>
        </p:spPr>
        <p:txBody>
          <a:bodyPr>
            <a:noAutofit/>
          </a:bodyPr>
          <a:lstStyle/>
          <a:p>
            <a:pPr algn="ctr"/>
            <a:r>
              <a:rPr lang="en-US" sz="4400" dirty="0" smtClean="0">
                <a:gradFill flip="none" rotWithShape="1">
                  <a:gsLst>
                    <a:gs pos="9000">
                      <a:schemeClr val="tx1">
                        <a:lumMod val="85000"/>
                        <a:lumOff val="15000"/>
                      </a:schemeClr>
                    </a:gs>
                    <a:gs pos="100000">
                      <a:schemeClr val="accent1">
                        <a:shade val="100000"/>
                        <a:satMod val="115000"/>
                      </a:schemeClr>
                    </a:gs>
                  </a:gsLst>
                  <a:lin ang="5400000" scaled="1"/>
                  <a:tileRect/>
                </a:gradFill>
              </a:rPr>
              <a:t>AI VOICE ASSISTANT(JIA)</a:t>
            </a:r>
            <a:endParaRPr lang="en-IN" sz="4400" dirty="0">
              <a:gradFill flip="none" rotWithShape="1">
                <a:gsLst>
                  <a:gs pos="9000">
                    <a:schemeClr val="tx1">
                      <a:lumMod val="85000"/>
                      <a:lumOff val="15000"/>
                    </a:schemeClr>
                  </a:gs>
                  <a:gs pos="100000">
                    <a:schemeClr val="accent1">
                      <a:shade val="100000"/>
                      <a:satMod val="115000"/>
                    </a:schemeClr>
                  </a:gs>
                </a:gsLst>
                <a:lin ang="5400000" scaled="1"/>
                <a:tileRect/>
              </a:gradFill>
            </a:endParaRPr>
          </a:p>
        </p:txBody>
      </p:sp>
      <p:sp>
        <p:nvSpPr>
          <p:cNvPr id="3" name="Subtitle 2"/>
          <p:cNvSpPr>
            <a:spLocks noGrp="1"/>
          </p:cNvSpPr>
          <p:nvPr>
            <p:ph type="subTitle" idx="1"/>
          </p:nvPr>
        </p:nvSpPr>
        <p:spPr>
          <a:xfrm>
            <a:off x="-250628" y="2348773"/>
            <a:ext cx="11363277" cy="2664292"/>
          </a:xfrm>
        </p:spPr>
        <p:txBody>
          <a:bodyPr>
            <a:normAutofit/>
          </a:bodyPr>
          <a:lstStyle/>
          <a:p>
            <a:pPr algn="r"/>
            <a:r>
              <a:rPr lang="en-US" dirty="0" smtClean="0">
                <a:solidFill>
                  <a:schemeClr val="tx1"/>
                </a:solidFill>
              </a:rPr>
              <a:t>Presented by : Dipesh Patel</a:t>
            </a:r>
          </a:p>
          <a:p>
            <a:pPr algn="r"/>
            <a:r>
              <a:rPr lang="en-US" dirty="0" smtClean="0">
                <a:solidFill>
                  <a:schemeClr val="tx1"/>
                </a:solidFill>
              </a:rPr>
              <a:t>Exam No</a:t>
            </a:r>
            <a:r>
              <a:rPr lang="en-US" smtClean="0">
                <a:solidFill>
                  <a:schemeClr val="tx1"/>
                </a:solidFill>
              </a:rPr>
              <a:t>: 169</a:t>
            </a:r>
            <a:r>
              <a:rPr lang="en-US" sz="1800" smtClean="0">
                <a:solidFill>
                  <a:schemeClr val="tx1"/>
                </a:solidFill>
              </a:rPr>
              <a:t>    </a:t>
            </a:r>
            <a:endParaRPr lang="en-US" sz="1800" dirty="0" smtClean="0">
              <a:solidFill>
                <a:schemeClr val="tx1"/>
              </a:solidFill>
            </a:endParaRPr>
          </a:p>
          <a:p>
            <a:pPr algn="r"/>
            <a:r>
              <a:rPr lang="en-US" dirty="0" smtClean="0">
                <a:solidFill>
                  <a:schemeClr val="tx1"/>
                </a:solidFill>
              </a:rPr>
              <a:t>Shree P.M. Patel College of Computer Science &amp; Technology, Anand</a:t>
            </a:r>
            <a:endParaRPr lang="en-IN" sz="1800" dirty="0">
              <a:solidFill>
                <a:schemeClr val="tx1"/>
              </a:solidFill>
            </a:endParaRPr>
          </a:p>
        </p:txBody>
      </p:sp>
    </p:spTree>
    <p:extLst>
      <p:ext uri="{BB962C8B-B14F-4D97-AF65-F5344CB8AC3E}">
        <p14:creationId xmlns:p14="http://schemas.microsoft.com/office/powerpoint/2010/main" val="20733689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713" y="301214"/>
            <a:ext cx="9905998" cy="656216"/>
          </a:xfrm>
        </p:spPr>
        <p:txBody>
          <a:bodyPr>
            <a:normAutofit/>
          </a:bodyPr>
          <a:lstStyle/>
          <a:p>
            <a:pPr algn="ctr"/>
            <a:r>
              <a:rPr lang="en-US" b="1" u="sng" dirty="0" smtClean="0">
                <a:effectLst>
                  <a:outerShdw blurRad="38100" dist="38100" dir="2700000" algn="tl">
                    <a:srgbClr val="000000">
                      <a:alpha val="43137"/>
                    </a:srgbClr>
                  </a:outerShdw>
                </a:effectLst>
              </a:rPr>
              <a:t>Index</a:t>
            </a:r>
            <a:r>
              <a:rPr lang="en-US" dirty="0" smtClean="0"/>
              <a:t>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82973940"/>
              </p:ext>
            </p:extLst>
          </p:nvPr>
        </p:nvGraphicFramePr>
        <p:xfrm>
          <a:off x="1824841" y="957430"/>
          <a:ext cx="8501742" cy="5425463"/>
        </p:xfrm>
        <a:graphic>
          <a:graphicData uri="http://schemas.openxmlformats.org/drawingml/2006/table">
            <a:tbl>
              <a:tblPr firstRow="1" bandRow="1">
                <a:tableStyleId>{073A0DAA-6AF3-43AB-8588-CEC1D06C72B9}</a:tableStyleId>
              </a:tblPr>
              <a:tblGrid>
                <a:gridCol w="950632">
                  <a:extLst>
                    <a:ext uri="{9D8B030D-6E8A-4147-A177-3AD203B41FA5}">
                      <a16:colId xmlns:a16="http://schemas.microsoft.com/office/drawing/2014/main" val="790956357"/>
                    </a:ext>
                  </a:extLst>
                </a:gridCol>
                <a:gridCol w="6013525">
                  <a:extLst>
                    <a:ext uri="{9D8B030D-6E8A-4147-A177-3AD203B41FA5}">
                      <a16:colId xmlns:a16="http://schemas.microsoft.com/office/drawing/2014/main" val="3777258410"/>
                    </a:ext>
                  </a:extLst>
                </a:gridCol>
                <a:gridCol w="1537585">
                  <a:extLst>
                    <a:ext uri="{9D8B030D-6E8A-4147-A177-3AD203B41FA5}">
                      <a16:colId xmlns:a16="http://schemas.microsoft.com/office/drawing/2014/main" val="3469228762"/>
                    </a:ext>
                  </a:extLst>
                </a:gridCol>
              </a:tblGrid>
              <a:tr h="610481">
                <a:tc>
                  <a:txBody>
                    <a:bodyPr/>
                    <a:lstStyle/>
                    <a:p>
                      <a:r>
                        <a:rPr lang="en-US" dirty="0" smtClean="0"/>
                        <a:t>SR.</a:t>
                      </a:r>
                      <a:r>
                        <a:rPr lang="en-US" baseline="0" dirty="0" smtClean="0"/>
                        <a:t> No.</a:t>
                      </a:r>
                      <a:endParaRPr lang="en-IN" dirty="0"/>
                    </a:p>
                  </a:txBody>
                  <a:tcPr/>
                </a:tc>
                <a:tc>
                  <a:txBody>
                    <a:bodyPr/>
                    <a:lstStyle/>
                    <a:p>
                      <a:r>
                        <a:rPr lang="en-US" dirty="0" smtClean="0"/>
                        <a:t>Topics</a:t>
                      </a:r>
                      <a:endParaRPr lang="en-IN" dirty="0"/>
                    </a:p>
                  </a:txBody>
                  <a:tcPr/>
                </a:tc>
                <a:tc>
                  <a:txBody>
                    <a:bodyPr/>
                    <a:lstStyle/>
                    <a:p>
                      <a:r>
                        <a:rPr lang="en-US" baseline="0" dirty="0" smtClean="0"/>
                        <a:t>Slide No.</a:t>
                      </a:r>
                      <a:endParaRPr lang="en-IN" dirty="0"/>
                    </a:p>
                  </a:txBody>
                  <a:tcPr/>
                </a:tc>
                <a:extLst>
                  <a:ext uri="{0D108BD9-81ED-4DB2-BD59-A6C34878D82A}">
                    <a16:rowId xmlns:a16="http://schemas.microsoft.com/office/drawing/2014/main" val="1762643724"/>
                  </a:ext>
                </a:extLst>
              </a:tr>
              <a:tr h="3536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2" action="ppaction://hlinksldjump"/>
                        </a:rPr>
                        <a:t>Project Definition</a:t>
                      </a:r>
                      <a:endParaRPr lang="en-US" sz="1800" dirty="0" smtClean="0"/>
                    </a:p>
                  </a:txBody>
                  <a:tcPr/>
                </a:tc>
                <a:tc>
                  <a:txBody>
                    <a:bodyPr/>
                    <a:lstStyle/>
                    <a:p>
                      <a:r>
                        <a:rPr lang="en-US" dirty="0" smtClean="0"/>
                        <a:t>3</a:t>
                      </a:r>
                      <a:endParaRPr lang="en-IN" dirty="0"/>
                    </a:p>
                  </a:txBody>
                  <a:tcPr/>
                </a:tc>
                <a:extLst>
                  <a:ext uri="{0D108BD9-81ED-4DB2-BD59-A6C34878D82A}">
                    <a16:rowId xmlns:a16="http://schemas.microsoft.com/office/drawing/2014/main" val="2296913813"/>
                  </a:ext>
                </a:extLst>
              </a:tr>
              <a:tr h="3536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3" action="ppaction://hlinksldjump"/>
                        </a:rPr>
                        <a:t>Project Profile</a:t>
                      </a:r>
                      <a:endParaRPr lang="en-US" sz="1800" dirty="0" smtClean="0"/>
                    </a:p>
                  </a:txBody>
                  <a:tcPr/>
                </a:tc>
                <a:tc>
                  <a:txBody>
                    <a:bodyPr/>
                    <a:lstStyle/>
                    <a:p>
                      <a:r>
                        <a:rPr lang="en-US" dirty="0" smtClean="0"/>
                        <a:t>4</a:t>
                      </a:r>
                      <a:endParaRPr lang="en-IN" dirty="0"/>
                    </a:p>
                  </a:txBody>
                  <a:tcPr/>
                </a:tc>
                <a:extLst>
                  <a:ext uri="{0D108BD9-81ED-4DB2-BD59-A6C34878D82A}">
                    <a16:rowId xmlns:a16="http://schemas.microsoft.com/office/drawing/2014/main" val="3721328955"/>
                  </a:ext>
                </a:extLst>
              </a:tr>
              <a:tr h="3536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4" action="ppaction://hlinksldjump"/>
                        </a:rPr>
                        <a:t>Need</a:t>
                      </a:r>
                      <a:r>
                        <a:rPr lang="en-US" sz="1800" baseline="0" dirty="0" smtClean="0">
                          <a:hlinkClick r:id="rId4" action="ppaction://hlinksldjump"/>
                        </a:rPr>
                        <a:t> of System</a:t>
                      </a:r>
                      <a:endParaRPr lang="en-US" sz="1800" dirty="0" smtClean="0"/>
                    </a:p>
                  </a:txBody>
                  <a:tcPr/>
                </a:tc>
                <a:tc>
                  <a:txBody>
                    <a:bodyPr/>
                    <a:lstStyle/>
                    <a:p>
                      <a:r>
                        <a:rPr lang="en-US" dirty="0" smtClean="0"/>
                        <a:t>5</a:t>
                      </a:r>
                      <a:endParaRPr lang="en-IN" dirty="0"/>
                    </a:p>
                  </a:txBody>
                  <a:tcPr/>
                </a:tc>
                <a:extLst>
                  <a:ext uri="{0D108BD9-81ED-4DB2-BD59-A6C34878D82A}">
                    <a16:rowId xmlns:a16="http://schemas.microsoft.com/office/drawing/2014/main" val="2832249200"/>
                  </a:ext>
                </a:extLst>
              </a:tr>
              <a:tr h="3536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5" action="ppaction://hlinksldjump"/>
                        </a:rPr>
                        <a:t>Scope</a:t>
                      </a:r>
                      <a:r>
                        <a:rPr lang="en-US" sz="1800" baseline="0" dirty="0" smtClean="0">
                          <a:hlinkClick r:id="rId5" action="ppaction://hlinksldjump"/>
                        </a:rPr>
                        <a:t> of proposed system</a:t>
                      </a:r>
                      <a:endParaRPr lang="en-US" sz="1800" dirty="0" smtClean="0"/>
                    </a:p>
                  </a:txBody>
                  <a:tcPr/>
                </a:tc>
                <a:tc>
                  <a:txBody>
                    <a:bodyPr/>
                    <a:lstStyle/>
                    <a:p>
                      <a:r>
                        <a:rPr lang="en-US" dirty="0" smtClean="0"/>
                        <a:t>6</a:t>
                      </a:r>
                      <a:endParaRPr lang="en-IN" dirty="0"/>
                    </a:p>
                  </a:txBody>
                  <a:tcPr/>
                </a:tc>
                <a:extLst>
                  <a:ext uri="{0D108BD9-81ED-4DB2-BD59-A6C34878D82A}">
                    <a16:rowId xmlns:a16="http://schemas.microsoft.com/office/drawing/2014/main" val="2993371580"/>
                  </a:ext>
                </a:extLst>
              </a:tr>
              <a:tr h="3536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6" action="ppaction://hlinksldjump"/>
                        </a:rPr>
                        <a:t>Features</a:t>
                      </a:r>
                      <a:endParaRPr lang="en-US" sz="1800" dirty="0" smtClean="0"/>
                    </a:p>
                  </a:txBody>
                  <a:tcPr/>
                </a:tc>
                <a:tc>
                  <a:txBody>
                    <a:bodyPr/>
                    <a:lstStyle/>
                    <a:p>
                      <a:r>
                        <a:rPr lang="en-US" dirty="0" smtClean="0"/>
                        <a:t>7</a:t>
                      </a:r>
                      <a:endParaRPr lang="en-IN" dirty="0"/>
                    </a:p>
                  </a:txBody>
                  <a:tcPr/>
                </a:tc>
                <a:extLst>
                  <a:ext uri="{0D108BD9-81ED-4DB2-BD59-A6C34878D82A}">
                    <a16:rowId xmlns:a16="http://schemas.microsoft.com/office/drawing/2014/main" val="2718911773"/>
                  </a:ext>
                </a:extLst>
              </a:tr>
              <a:tr h="3536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7" action="ppaction://hlinksldjump"/>
                        </a:rPr>
                        <a:t>System</a:t>
                      </a:r>
                      <a:r>
                        <a:rPr lang="en-US" sz="1800" baseline="0" dirty="0" smtClean="0">
                          <a:hlinkClick r:id="rId7" action="ppaction://hlinksldjump"/>
                        </a:rPr>
                        <a:t> Overview</a:t>
                      </a:r>
                      <a:endParaRPr lang="en-US" sz="1800" dirty="0" smtClean="0"/>
                    </a:p>
                  </a:txBody>
                  <a:tcPr/>
                </a:tc>
                <a:tc>
                  <a:txBody>
                    <a:bodyPr/>
                    <a:lstStyle/>
                    <a:p>
                      <a:r>
                        <a:rPr lang="en-US" dirty="0" smtClean="0"/>
                        <a:t>10</a:t>
                      </a:r>
                      <a:endParaRPr lang="en-IN" dirty="0"/>
                    </a:p>
                  </a:txBody>
                  <a:tcPr/>
                </a:tc>
                <a:extLst>
                  <a:ext uri="{0D108BD9-81ED-4DB2-BD59-A6C34878D82A}">
                    <a16:rowId xmlns:a16="http://schemas.microsoft.com/office/drawing/2014/main" val="451669183"/>
                  </a:ext>
                </a:extLst>
              </a:tr>
              <a:tr h="3536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8" action="ppaction://hlinksldjump"/>
                        </a:rPr>
                        <a:t>Algorithm Used</a:t>
                      </a:r>
                      <a:endParaRPr lang="en-US" sz="1800" dirty="0" smtClean="0"/>
                    </a:p>
                  </a:txBody>
                  <a:tcPr/>
                </a:tc>
                <a:tc>
                  <a:txBody>
                    <a:bodyPr/>
                    <a:lstStyle/>
                    <a:p>
                      <a:r>
                        <a:rPr lang="en-US" dirty="0" smtClean="0"/>
                        <a:t>11</a:t>
                      </a:r>
                      <a:endParaRPr lang="en-IN" dirty="0"/>
                    </a:p>
                  </a:txBody>
                  <a:tcPr/>
                </a:tc>
                <a:extLst>
                  <a:ext uri="{0D108BD9-81ED-4DB2-BD59-A6C34878D82A}">
                    <a16:rowId xmlns:a16="http://schemas.microsoft.com/office/drawing/2014/main" val="968456042"/>
                  </a:ext>
                </a:extLst>
              </a:tr>
              <a:tr h="4222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9" action="ppaction://hlinksldjump"/>
                        </a:rPr>
                        <a:t>Use Case</a:t>
                      </a:r>
                      <a:r>
                        <a:rPr lang="en-US" sz="1800" dirty="0" smtClean="0"/>
                        <a:t>,</a:t>
                      </a:r>
                      <a:r>
                        <a:rPr lang="en-US" sz="1800" baseline="0" dirty="0" smtClean="0"/>
                        <a:t> </a:t>
                      </a:r>
                      <a:r>
                        <a:rPr lang="en-US" sz="1800" baseline="0" dirty="0" smtClean="0">
                          <a:hlinkClick r:id="rId10" action="ppaction://hlinksldjump"/>
                        </a:rPr>
                        <a:t>Activity diagram</a:t>
                      </a:r>
                      <a:r>
                        <a:rPr lang="en-US" sz="1800" baseline="0" dirty="0" smtClean="0"/>
                        <a:t>, </a:t>
                      </a:r>
                      <a:r>
                        <a:rPr lang="en-US" sz="1800" baseline="0" dirty="0" smtClean="0">
                          <a:hlinkClick r:id="rId11" action="ppaction://hlinksldjump"/>
                        </a:rPr>
                        <a:t>Class diagram</a:t>
                      </a:r>
                      <a:r>
                        <a:rPr lang="en-US" sz="1800" baseline="0" dirty="0" smtClean="0"/>
                        <a:t>, </a:t>
                      </a:r>
                      <a:r>
                        <a:rPr lang="en-US" sz="1800" baseline="0" dirty="0" smtClean="0">
                          <a:hlinkClick r:id="rId12" action="ppaction://hlinksldjump"/>
                        </a:rPr>
                        <a:t>Sequence diagram</a:t>
                      </a:r>
                      <a:endParaRPr lang="en-US" sz="1800" dirty="0" smtClean="0"/>
                    </a:p>
                  </a:txBody>
                  <a:tcPr/>
                </a:tc>
                <a:tc>
                  <a:txBody>
                    <a:bodyPr/>
                    <a:lstStyle/>
                    <a:p>
                      <a:r>
                        <a:rPr lang="en-US" dirty="0" smtClean="0"/>
                        <a:t>12</a:t>
                      </a:r>
                      <a:endParaRPr lang="en-IN" dirty="0"/>
                    </a:p>
                  </a:txBody>
                  <a:tcPr/>
                </a:tc>
                <a:extLst>
                  <a:ext uri="{0D108BD9-81ED-4DB2-BD59-A6C34878D82A}">
                    <a16:rowId xmlns:a16="http://schemas.microsoft.com/office/drawing/2014/main" val="249432371"/>
                  </a:ext>
                </a:extLst>
              </a:tr>
              <a:tr h="3511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13" action="ppaction://hlinksldjump"/>
                        </a:rPr>
                        <a:t>Data Dictionary</a:t>
                      </a:r>
                      <a:endParaRPr lang="en-US" sz="1800" dirty="0" smtClean="0"/>
                    </a:p>
                  </a:txBody>
                  <a:tcPr/>
                </a:tc>
                <a:tc>
                  <a:txBody>
                    <a:bodyPr/>
                    <a:lstStyle/>
                    <a:p>
                      <a:r>
                        <a:rPr lang="en-US" dirty="0" smtClean="0"/>
                        <a:t>17</a:t>
                      </a:r>
                      <a:endParaRPr lang="en-IN" dirty="0"/>
                    </a:p>
                  </a:txBody>
                  <a:tcPr/>
                </a:tc>
                <a:extLst>
                  <a:ext uri="{0D108BD9-81ED-4DB2-BD59-A6C34878D82A}">
                    <a16:rowId xmlns:a16="http://schemas.microsoft.com/office/drawing/2014/main" val="2951047289"/>
                  </a:ext>
                </a:extLst>
              </a:tr>
              <a:tr h="3511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14" action="ppaction://hlinksldjump"/>
                        </a:rPr>
                        <a:t>System Layout</a:t>
                      </a:r>
                      <a:endParaRPr lang="en-US" sz="1800" dirty="0" smtClean="0"/>
                    </a:p>
                  </a:txBody>
                  <a:tcPr/>
                </a:tc>
                <a:tc>
                  <a:txBody>
                    <a:bodyPr/>
                    <a:lstStyle/>
                    <a:p>
                      <a:r>
                        <a:rPr lang="en-US" dirty="0" smtClean="0"/>
                        <a:t>18</a:t>
                      </a:r>
                      <a:endParaRPr lang="en-IN" dirty="0"/>
                    </a:p>
                  </a:txBody>
                  <a:tcPr/>
                </a:tc>
                <a:extLst>
                  <a:ext uri="{0D108BD9-81ED-4DB2-BD59-A6C34878D82A}">
                    <a16:rowId xmlns:a16="http://schemas.microsoft.com/office/drawing/2014/main" val="1542605863"/>
                  </a:ext>
                </a:extLst>
              </a:tr>
              <a:tr h="3511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15" action="ppaction://hlinksldjump"/>
                        </a:rPr>
                        <a:t>Future Enhancement</a:t>
                      </a:r>
                      <a:endParaRPr lang="en-US" sz="1800" dirty="0" smtClean="0"/>
                    </a:p>
                  </a:txBody>
                  <a:tcPr/>
                </a:tc>
                <a:tc>
                  <a:txBody>
                    <a:bodyPr/>
                    <a:lstStyle/>
                    <a:p>
                      <a:r>
                        <a:rPr lang="en-US" dirty="0" smtClean="0"/>
                        <a:t>22</a:t>
                      </a:r>
                      <a:endParaRPr lang="en-IN" dirty="0"/>
                    </a:p>
                  </a:txBody>
                  <a:tcPr/>
                </a:tc>
                <a:extLst>
                  <a:ext uri="{0D108BD9-81ED-4DB2-BD59-A6C34878D82A}">
                    <a16:rowId xmlns:a16="http://schemas.microsoft.com/office/drawing/2014/main" val="1576187993"/>
                  </a:ext>
                </a:extLst>
              </a:tr>
              <a:tr h="3511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16" action="ppaction://hlinksldjump"/>
                        </a:rPr>
                        <a:t>Conclusion</a:t>
                      </a:r>
                      <a:endParaRPr lang="en-US" sz="1800" dirty="0" smtClean="0"/>
                    </a:p>
                  </a:txBody>
                  <a:tcPr/>
                </a:tc>
                <a:tc>
                  <a:txBody>
                    <a:bodyPr/>
                    <a:lstStyle/>
                    <a:p>
                      <a:r>
                        <a:rPr lang="en-US" dirty="0" smtClean="0"/>
                        <a:t>23</a:t>
                      </a:r>
                      <a:endParaRPr lang="en-IN" dirty="0"/>
                    </a:p>
                  </a:txBody>
                  <a:tcPr/>
                </a:tc>
                <a:extLst>
                  <a:ext uri="{0D108BD9-81ED-4DB2-BD59-A6C34878D82A}">
                    <a16:rowId xmlns:a16="http://schemas.microsoft.com/office/drawing/2014/main" val="1925360738"/>
                  </a:ext>
                </a:extLst>
              </a:tr>
              <a:tr h="36936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13</a:t>
                      </a:r>
                      <a:endParaRPr lang="en-IN" sz="18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hlinkClick r:id="rId17" action="ppaction://hlinksldjump"/>
                        </a:rPr>
                        <a:t>Bibliography / Web Refrences</a:t>
                      </a:r>
                      <a:endParaRPr lang="en-IN" sz="1800" dirty="0" smtClean="0"/>
                    </a:p>
                  </a:txBody>
                  <a:tcPr/>
                </a:tc>
                <a:tc>
                  <a:txBody>
                    <a:bodyPr/>
                    <a:lstStyle/>
                    <a:p>
                      <a:r>
                        <a:rPr lang="en-US" dirty="0" smtClean="0"/>
                        <a:t>24</a:t>
                      </a:r>
                      <a:endParaRPr lang="en-IN" dirty="0"/>
                    </a:p>
                  </a:txBody>
                  <a:tcPr/>
                </a:tc>
                <a:extLst>
                  <a:ext uri="{0D108BD9-81ED-4DB2-BD59-A6C34878D82A}">
                    <a16:rowId xmlns:a16="http://schemas.microsoft.com/office/drawing/2014/main" val="2414354776"/>
                  </a:ext>
                </a:extLst>
              </a:tr>
            </a:tbl>
          </a:graphicData>
        </a:graphic>
      </p:graphicFrame>
    </p:spTree>
    <p:extLst>
      <p:ext uri="{BB962C8B-B14F-4D97-AF65-F5344CB8AC3E}">
        <p14:creationId xmlns:p14="http://schemas.microsoft.com/office/powerpoint/2010/main" val="1637747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80729"/>
            <a:ext cx="9905998" cy="790734"/>
          </a:xfrm>
        </p:spPr>
        <p:txBody>
          <a:bodyPr>
            <a:normAutofit/>
          </a:bodyPr>
          <a:lstStyle/>
          <a:p>
            <a:pPr algn="ctr">
              <a:lnSpc>
                <a:spcPct val="100000"/>
              </a:lnSpc>
              <a:spcBef>
                <a:spcPts val="0"/>
              </a:spcBef>
              <a:defRPr/>
            </a:pPr>
            <a:r>
              <a:rPr lang="en-US" b="1" u="sng" dirty="0">
                <a:effectLst>
                  <a:outerShdw blurRad="38100" dist="38100" dir="2700000" algn="tl">
                    <a:srgbClr val="000000">
                      <a:alpha val="43137"/>
                    </a:srgbClr>
                  </a:outerShdw>
                </a:effectLst>
              </a:rPr>
              <a:t>Project Definition</a:t>
            </a:r>
          </a:p>
        </p:txBody>
      </p:sp>
      <p:sp>
        <p:nvSpPr>
          <p:cNvPr id="3" name="Content Placeholder 2"/>
          <p:cNvSpPr>
            <a:spLocks noGrp="1"/>
          </p:cNvSpPr>
          <p:nvPr>
            <p:ph idx="1"/>
          </p:nvPr>
        </p:nvSpPr>
        <p:spPr>
          <a:xfrm>
            <a:off x="1141413" y="882128"/>
            <a:ext cx="10272450" cy="6147995"/>
          </a:xfrm>
        </p:spPr>
        <p:txBody>
          <a:bodyPr>
            <a:noAutofit/>
          </a:bodyPr>
          <a:lstStyle/>
          <a:p>
            <a:pPr marL="0" indent="0">
              <a:buNone/>
            </a:pPr>
            <a:r>
              <a:rPr lang="en-US" sz="2000" b="1" u="sng" dirty="0"/>
              <a:t>Introduction</a:t>
            </a:r>
            <a:r>
              <a:rPr lang="en-US" sz="1800" b="1" u="sng" dirty="0"/>
              <a:t> </a:t>
            </a:r>
            <a:endParaRPr lang="en-US" sz="1800" b="1" u="sng" dirty="0" smtClean="0"/>
          </a:p>
          <a:p>
            <a:r>
              <a:rPr lang="en-US" sz="1600" b="1" dirty="0" smtClean="0"/>
              <a:t>		</a:t>
            </a:r>
            <a:r>
              <a:rPr lang="en-IN" sz="1600" dirty="0" smtClean="0"/>
              <a:t>Virtual Assistants are software programs that help us ease our day to day tasks, such as showing weather report, creating reminders, providing knowledge on any topic etc.</a:t>
            </a:r>
          </a:p>
          <a:p>
            <a:r>
              <a:rPr lang="en-IN" sz="1600" dirty="0" smtClean="0"/>
              <a:t> They take’s commands via text (online chat bots) or by voice.</a:t>
            </a:r>
          </a:p>
          <a:p>
            <a:r>
              <a:rPr lang="en-IN" sz="1600" dirty="0" smtClean="0"/>
              <a:t> Voice based intelligent assistants need an invoking word or wake word to activate the listener, followed by the command.</a:t>
            </a:r>
          </a:p>
          <a:p>
            <a:r>
              <a:rPr lang="en-IN" sz="1600" dirty="0" smtClean="0"/>
              <a:t>For my project The wake word is JIA. We have so many virtual assistants, such as Apple’s Siri, Amazon’s Alexa and Microsoft’s Cortana.</a:t>
            </a:r>
          </a:p>
          <a:p>
            <a:r>
              <a:rPr lang="en-IN" sz="1600" dirty="0" smtClean="0"/>
              <a:t>This system is designed to be used efficiently on desktops.</a:t>
            </a:r>
          </a:p>
          <a:p>
            <a:pPr marL="0" indent="0">
              <a:buNone/>
            </a:pPr>
            <a:r>
              <a:rPr lang="en-US" sz="1600" b="1" dirty="0" smtClean="0"/>
              <a:t>	</a:t>
            </a:r>
            <a:endParaRPr lang="en-IN" sz="1600" b="1" dirty="0"/>
          </a:p>
        </p:txBody>
      </p:sp>
      <p:sp>
        <p:nvSpPr>
          <p:cNvPr id="4" name="Left Arrow 3">
            <a:hlinkClick r:id="rId2" action="ppaction://hlinksldjump"/>
          </p:cNvPr>
          <p:cNvSpPr/>
          <p:nvPr/>
        </p:nvSpPr>
        <p:spPr>
          <a:xfrm>
            <a:off x="9336945" y="6056555"/>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34366560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8979" y="0"/>
            <a:ext cx="9905998" cy="522514"/>
          </a:xfrm>
        </p:spPr>
        <p:txBody>
          <a:bodyPr>
            <a:noAutofit/>
          </a:bodyPr>
          <a:lstStyle/>
          <a:p>
            <a:pPr algn="ctr"/>
            <a:r>
              <a:rPr lang="en-US" b="1" u="sng" dirty="0">
                <a:effectLst>
                  <a:outerShdw blurRad="38100" dist="38100" dir="2700000" algn="tl">
                    <a:srgbClr val="000000">
                      <a:alpha val="43137"/>
                    </a:srgbClr>
                  </a:outerShdw>
                </a:effectLst>
              </a:rPr>
              <a:t>Project Profile </a:t>
            </a:r>
            <a:endParaRPr lang="en-IN" sz="2000" b="1" u="sng"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26632071"/>
              </p:ext>
            </p:extLst>
          </p:nvPr>
        </p:nvGraphicFramePr>
        <p:xfrm>
          <a:off x="848561" y="1414545"/>
          <a:ext cx="10726834" cy="3925389"/>
        </p:xfrm>
        <a:graphic>
          <a:graphicData uri="http://schemas.openxmlformats.org/drawingml/2006/table">
            <a:tbl>
              <a:tblPr firstRow="1" bandRow="1">
                <a:tableStyleId>{073A0DAA-6AF3-43AB-8588-CEC1D06C72B9}</a:tableStyleId>
              </a:tblPr>
              <a:tblGrid>
                <a:gridCol w="3809500">
                  <a:extLst>
                    <a:ext uri="{9D8B030D-6E8A-4147-A177-3AD203B41FA5}">
                      <a16:colId xmlns:a16="http://schemas.microsoft.com/office/drawing/2014/main" val="1122604155"/>
                    </a:ext>
                  </a:extLst>
                </a:gridCol>
                <a:gridCol w="6917334">
                  <a:extLst>
                    <a:ext uri="{9D8B030D-6E8A-4147-A177-3AD203B41FA5}">
                      <a16:colId xmlns:a16="http://schemas.microsoft.com/office/drawing/2014/main" val="3642263867"/>
                    </a:ext>
                  </a:extLst>
                </a:gridCol>
              </a:tblGrid>
              <a:tr h="587829">
                <a:tc>
                  <a:txBody>
                    <a:bodyPr/>
                    <a:lstStyle/>
                    <a:p>
                      <a:r>
                        <a:rPr lang="en-US" sz="2400" dirty="0" smtClean="0"/>
                        <a:t>Project Title </a:t>
                      </a:r>
                      <a:endParaRPr lang="en-IN" sz="2400" dirty="0"/>
                    </a:p>
                  </a:txBody>
                  <a:tcPr/>
                </a:tc>
                <a:tc>
                  <a:txBody>
                    <a:bodyPr/>
                    <a:lstStyle/>
                    <a:p>
                      <a:r>
                        <a:rPr lang="en-US" sz="2400" dirty="0" smtClean="0"/>
                        <a:t>AI Voice Assistant </a:t>
                      </a:r>
                      <a:endParaRPr lang="en-IN" sz="2400" dirty="0"/>
                    </a:p>
                  </a:txBody>
                  <a:tcPr/>
                </a:tc>
                <a:extLst>
                  <a:ext uri="{0D108BD9-81ED-4DB2-BD59-A6C34878D82A}">
                    <a16:rowId xmlns:a16="http://schemas.microsoft.com/office/drawing/2014/main" val="2858098525"/>
                  </a:ext>
                </a:extLst>
              </a:tr>
              <a:tr h="370840">
                <a:tc>
                  <a:txBody>
                    <a:bodyPr/>
                    <a:lstStyle/>
                    <a:p>
                      <a:r>
                        <a:rPr lang="en-US" dirty="0" smtClean="0"/>
                        <a:t>Front End </a:t>
                      </a:r>
                      <a:endParaRPr lang="en-IN" dirty="0"/>
                    </a:p>
                  </a:txBody>
                  <a:tcPr/>
                </a:tc>
                <a:tc>
                  <a:txBody>
                    <a:bodyPr/>
                    <a:lstStyle/>
                    <a:p>
                      <a:r>
                        <a:rPr lang="en-US" dirty="0" smtClean="0"/>
                        <a:t>Python (kivyMD)</a:t>
                      </a:r>
                      <a:endParaRPr lang="en-IN" dirty="0"/>
                    </a:p>
                  </a:txBody>
                  <a:tcPr/>
                </a:tc>
                <a:extLst>
                  <a:ext uri="{0D108BD9-81ED-4DB2-BD59-A6C34878D82A}">
                    <a16:rowId xmlns:a16="http://schemas.microsoft.com/office/drawing/2014/main" val="1044773979"/>
                  </a:ext>
                </a:extLst>
              </a:tr>
              <a:tr h="370840">
                <a:tc>
                  <a:txBody>
                    <a:bodyPr/>
                    <a:lstStyle/>
                    <a:p>
                      <a:r>
                        <a:rPr lang="en-US" dirty="0" smtClean="0"/>
                        <a:t>BackEnd </a:t>
                      </a:r>
                      <a:endParaRPr lang="en-IN" dirty="0"/>
                    </a:p>
                  </a:txBody>
                  <a:tcPr/>
                </a:tc>
                <a:tc>
                  <a:txBody>
                    <a:bodyPr/>
                    <a:lstStyle/>
                    <a:p>
                      <a:r>
                        <a:rPr lang="en-US" dirty="0" smtClean="0"/>
                        <a:t>MySQL</a:t>
                      </a:r>
                      <a:endParaRPr lang="en-IN" dirty="0"/>
                    </a:p>
                  </a:txBody>
                  <a:tcPr/>
                </a:tc>
                <a:extLst>
                  <a:ext uri="{0D108BD9-81ED-4DB2-BD59-A6C34878D82A}">
                    <a16:rowId xmlns:a16="http://schemas.microsoft.com/office/drawing/2014/main" val="1508481608"/>
                  </a:ext>
                </a:extLst>
              </a:tr>
              <a:tr h="370840">
                <a:tc>
                  <a:txBody>
                    <a:bodyPr/>
                    <a:lstStyle/>
                    <a:p>
                      <a:r>
                        <a:rPr lang="en-US" dirty="0" smtClean="0"/>
                        <a:t>Operating System</a:t>
                      </a:r>
                      <a:endParaRPr lang="en-IN" dirty="0"/>
                    </a:p>
                  </a:txBody>
                  <a:tcPr/>
                </a:tc>
                <a:tc>
                  <a:txBody>
                    <a:bodyPr/>
                    <a:lstStyle/>
                    <a:p>
                      <a:r>
                        <a:rPr lang="en-US" dirty="0" smtClean="0"/>
                        <a:t>MS Windows</a:t>
                      </a:r>
                      <a:r>
                        <a:rPr lang="en-US" baseline="0" dirty="0" smtClean="0"/>
                        <a:t> 11</a:t>
                      </a:r>
                      <a:endParaRPr lang="en-IN" dirty="0"/>
                    </a:p>
                  </a:txBody>
                  <a:tcPr/>
                </a:tc>
                <a:extLst>
                  <a:ext uri="{0D108BD9-81ED-4DB2-BD59-A6C34878D82A}">
                    <a16:rowId xmlns:a16="http://schemas.microsoft.com/office/drawing/2014/main" val="3855328800"/>
                  </a:ext>
                </a:extLst>
              </a:tr>
              <a:tr h="370840">
                <a:tc>
                  <a:txBody>
                    <a:bodyPr/>
                    <a:lstStyle/>
                    <a:p>
                      <a:r>
                        <a:rPr lang="en-US" dirty="0" smtClean="0"/>
                        <a:t>Documentation Tool</a:t>
                      </a:r>
                      <a:endParaRPr lang="en-IN" dirty="0"/>
                    </a:p>
                  </a:txBody>
                  <a:tcPr/>
                </a:tc>
                <a:tc>
                  <a:txBody>
                    <a:bodyPr/>
                    <a:lstStyle/>
                    <a:p>
                      <a:r>
                        <a:rPr lang="en-IN" dirty="0" smtClean="0"/>
                        <a:t>Microsoft Office 2016</a:t>
                      </a:r>
                      <a:endParaRPr lang="en-IN" dirty="0"/>
                    </a:p>
                  </a:txBody>
                  <a:tcPr/>
                </a:tc>
                <a:extLst>
                  <a:ext uri="{0D108BD9-81ED-4DB2-BD59-A6C34878D82A}">
                    <a16:rowId xmlns:a16="http://schemas.microsoft.com/office/drawing/2014/main" val="1409175267"/>
                  </a:ext>
                </a:extLst>
              </a:tr>
              <a:tr h="370840">
                <a:tc>
                  <a:txBody>
                    <a:bodyPr/>
                    <a:lstStyle/>
                    <a:p>
                      <a:r>
                        <a:rPr lang="en-US" dirty="0" smtClean="0"/>
                        <a:t>Hardware Requirement</a:t>
                      </a:r>
                      <a:endParaRPr lang="en-IN" dirty="0"/>
                    </a:p>
                  </a:txBody>
                  <a:tcPr/>
                </a:tc>
                <a:tc>
                  <a:txBody>
                    <a:bodyPr/>
                    <a:lstStyle/>
                    <a:p>
                      <a:r>
                        <a:rPr lang="en-US" dirty="0" smtClean="0"/>
                        <a:t>Min 8GB</a:t>
                      </a:r>
                      <a:r>
                        <a:rPr lang="en-US" baseline="0" dirty="0" smtClean="0"/>
                        <a:t> RAM </a:t>
                      </a:r>
                      <a:endParaRPr lang="en-IN" dirty="0"/>
                    </a:p>
                  </a:txBody>
                  <a:tcPr/>
                </a:tc>
                <a:extLst>
                  <a:ext uri="{0D108BD9-81ED-4DB2-BD59-A6C34878D82A}">
                    <a16:rowId xmlns:a16="http://schemas.microsoft.com/office/drawing/2014/main" val="563536422"/>
                  </a:ext>
                </a:extLst>
              </a:tr>
              <a:tr h="370840">
                <a:tc>
                  <a:txBody>
                    <a:bodyPr/>
                    <a:lstStyle/>
                    <a:p>
                      <a:r>
                        <a:rPr lang="en-US" dirty="0" smtClean="0"/>
                        <a:t>Project Guide</a:t>
                      </a:r>
                      <a:endParaRPr lang="en-IN" dirty="0"/>
                    </a:p>
                  </a:txBody>
                  <a:tcPr/>
                </a:tc>
                <a:tc>
                  <a:txBody>
                    <a:bodyPr/>
                    <a:lstStyle/>
                    <a:p>
                      <a:r>
                        <a:rPr lang="en-US" sz="1800" kern="1200" dirty="0" smtClean="0">
                          <a:solidFill>
                            <a:schemeClr val="dk1"/>
                          </a:solidFill>
                          <a:latin typeface="+mn-lt"/>
                          <a:ea typeface="+mn-ea"/>
                          <a:cs typeface="+mn-cs"/>
                        </a:rPr>
                        <a:t>Mr. </a:t>
                      </a:r>
                      <a:r>
                        <a:rPr lang="en-US" sz="1800" kern="1200" dirty="0" err="1" smtClean="0">
                          <a:solidFill>
                            <a:schemeClr val="dk1"/>
                          </a:solidFill>
                          <a:latin typeface="+mn-lt"/>
                          <a:ea typeface="+mn-ea"/>
                          <a:cs typeface="+mn-cs"/>
                        </a:rPr>
                        <a:t>Pradhyuman</a:t>
                      </a:r>
                      <a:r>
                        <a:rPr lang="en-US" sz="1800" kern="1200" dirty="0" smtClean="0">
                          <a:solidFill>
                            <a:schemeClr val="dk1"/>
                          </a:solidFill>
                          <a:latin typeface="+mn-lt"/>
                          <a:ea typeface="+mn-ea"/>
                          <a:cs typeface="+mn-cs"/>
                        </a:rPr>
                        <a:t> Parmar</a:t>
                      </a:r>
                      <a:endParaRPr lang="en-IN" dirty="0"/>
                    </a:p>
                  </a:txBody>
                  <a:tcPr/>
                </a:tc>
                <a:extLst>
                  <a:ext uri="{0D108BD9-81ED-4DB2-BD59-A6C34878D82A}">
                    <a16:rowId xmlns:a16="http://schemas.microsoft.com/office/drawing/2014/main" val="205628629"/>
                  </a:ext>
                </a:extLst>
              </a:tr>
              <a:tr h="370840">
                <a:tc>
                  <a:txBody>
                    <a:bodyPr/>
                    <a:lstStyle/>
                    <a:p>
                      <a:r>
                        <a:rPr lang="en-US" dirty="0" smtClean="0"/>
                        <a:t>Submitted By</a:t>
                      </a:r>
                      <a:endParaRPr lang="en-IN" dirty="0"/>
                    </a:p>
                  </a:txBody>
                  <a:tcPr/>
                </a:tc>
                <a:tc>
                  <a:txBody>
                    <a:bodyPr/>
                    <a:lstStyle/>
                    <a:p>
                      <a:r>
                        <a:rPr lang="en-US" dirty="0" smtClean="0"/>
                        <a:t>Dipesh Patel</a:t>
                      </a:r>
                      <a:endParaRPr lang="en-IN" dirty="0"/>
                    </a:p>
                  </a:txBody>
                  <a:tcPr/>
                </a:tc>
                <a:extLst>
                  <a:ext uri="{0D108BD9-81ED-4DB2-BD59-A6C34878D82A}">
                    <a16:rowId xmlns:a16="http://schemas.microsoft.com/office/drawing/2014/main" val="1075923535"/>
                  </a:ext>
                </a:extLst>
              </a:tr>
              <a:tr h="370840">
                <a:tc>
                  <a:txBody>
                    <a:bodyPr/>
                    <a:lstStyle/>
                    <a:p>
                      <a:r>
                        <a:rPr lang="en-US" dirty="0" smtClean="0"/>
                        <a:t>Submitted Through</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Shree P.M. Patel College of Computer Science and Technology, Anand.</a:t>
                      </a:r>
                      <a:endParaRPr lang="en-US" sz="1800" dirty="0" smtClean="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88758698"/>
                  </a:ext>
                </a:extLst>
              </a:tr>
              <a:tr h="370840">
                <a:tc>
                  <a:txBody>
                    <a:bodyPr/>
                    <a:lstStyle/>
                    <a:p>
                      <a:r>
                        <a:rPr lang="en-US" dirty="0" smtClean="0"/>
                        <a:t>Submitted By</a:t>
                      </a:r>
                      <a:endParaRPr lang="en-IN" dirty="0"/>
                    </a:p>
                  </a:txBody>
                  <a:tcPr/>
                </a:tc>
                <a:tc>
                  <a:txBody>
                    <a:bodyPr/>
                    <a:lstStyle/>
                    <a:p>
                      <a:r>
                        <a:rPr lang="en-US" dirty="0" smtClean="0"/>
                        <a:t>SARDAR</a:t>
                      </a:r>
                      <a:r>
                        <a:rPr lang="en-US" baseline="0" dirty="0" smtClean="0"/>
                        <a:t> PATEL UNIVERSITY V.V.Nagar.</a:t>
                      </a:r>
                      <a:endParaRPr lang="en-IN" dirty="0"/>
                    </a:p>
                  </a:txBody>
                  <a:tcPr/>
                </a:tc>
                <a:extLst>
                  <a:ext uri="{0D108BD9-81ED-4DB2-BD59-A6C34878D82A}">
                    <a16:rowId xmlns:a16="http://schemas.microsoft.com/office/drawing/2014/main" val="4054519975"/>
                  </a:ext>
                </a:extLst>
              </a:tr>
            </a:tbl>
          </a:graphicData>
        </a:graphic>
      </p:graphicFrame>
      <p:sp>
        <p:nvSpPr>
          <p:cNvPr id="5" name="Left Arrow 4">
            <a:hlinkClick r:id="rId2" action="ppaction://hlinksldjump"/>
          </p:cNvPr>
          <p:cNvSpPr/>
          <p:nvPr/>
        </p:nvSpPr>
        <p:spPr>
          <a:xfrm>
            <a:off x="9454511" y="6217920"/>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42765516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23432"/>
            <a:ext cx="10179730" cy="876454"/>
          </a:xfrm>
        </p:spPr>
        <p:txBody>
          <a:bodyPr/>
          <a:lstStyle/>
          <a:p>
            <a:pPr algn="ctr"/>
            <a:r>
              <a:rPr lang="en-US" b="1" u="sng" dirty="0" smtClean="0">
                <a:effectLst>
                  <a:outerShdw blurRad="38100" dist="38100" dir="2700000" algn="tl">
                    <a:srgbClr val="000000">
                      <a:alpha val="43137"/>
                    </a:srgbClr>
                  </a:outerShdw>
                </a:effectLst>
              </a:rPr>
              <a:t>Need of The System</a:t>
            </a:r>
            <a:endParaRPr lang="en-IN" b="1" u="sng"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899886"/>
            <a:ext cx="10179730" cy="5958114"/>
          </a:xfrm>
        </p:spPr>
        <p:txBody>
          <a:bodyPr>
            <a:normAutofit/>
          </a:bodyPr>
          <a:lstStyle/>
          <a:p>
            <a:r>
              <a:rPr lang="en-IN" b="1" u="sng" dirty="0"/>
              <a:t>Performance :</a:t>
            </a:r>
            <a:r>
              <a:rPr lang="en-IN" sz="1600" dirty="0"/>
              <a:t>Voice assistants may have limitations in terms of their of their performance, such as the speed at which they can process and respond to user requests, or the complexity of tasks that they can handle.</a:t>
            </a:r>
          </a:p>
          <a:p>
            <a:r>
              <a:rPr lang="en-IN" b="1" u="sng" dirty="0"/>
              <a:t>Privacy and security :</a:t>
            </a:r>
            <a:r>
              <a:rPr lang="en-IN" sz="1600" dirty="0"/>
              <a:t>Voice assistants may not always clearly communicate their data collection and sharing practices to users, which could raise concerns about transparency and consent.</a:t>
            </a:r>
          </a:p>
          <a:p>
            <a:r>
              <a:rPr lang="en-IN" b="1" u="sng" dirty="0"/>
              <a:t>Customization :</a:t>
            </a:r>
            <a:r>
              <a:rPr lang="en-IN" sz="1600" dirty="0"/>
              <a:t>Voice assistants may not offer users a high degree of customization or control over their functionality, which could limit their usefulness and appeal to users.</a:t>
            </a:r>
          </a:p>
          <a:p>
            <a:r>
              <a:rPr lang="en-IN" b="1" u="sng" dirty="0"/>
              <a:t>Accuracy :</a:t>
            </a:r>
            <a:r>
              <a:rPr lang="en-IN" dirty="0"/>
              <a:t> </a:t>
            </a:r>
            <a:r>
              <a:rPr lang="en-IN" sz="1600" dirty="0"/>
              <a:t>Voice assistants may not always accurately understand or respond to user requests and queries, which can lead to frustration and a poor user experience.</a:t>
            </a:r>
          </a:p>
          <a:p>
            <a:r>
              <a:rPr lang="en-IN" b="1" u="sng" dirty="0"/>
              <a:t>Capabilities :</a:t>
            </a:r>
            <a:r>
              <a:rPr lang="en-IN" dirty="0"/>
              <a:t> </a:t>
            </a:r>
            <a:r>
              <a:rPr lang="en-IN" sz="1600" dirty="0"/>
              <a:t>Voice assistants may not support all tasks or functions that users may want to perform, and they may not be able to integrate with all devices or systems.</a:t>
            </a:r>
          </a:p>
          <a:p>
            <a:endParaRPr lang="en-IN" dirty="0"/>
          </a:p>
        </p:txBody>
      </p:sp>
      <p:sp>
        <p:nvSpPr>
          <p:cNvPr id="4" name="Left Arrow 3">
            <a:hlinkClick r:id="rId2" action="ppaction://hlinksldjump"/>
          </p:cNvPr>
          <p:cNvSpPr/>
          <p:nvPr/>
        </p:nvSpPr>
        <p:spPr>
          <a:xfrm>
            <a:off x="9610676" y="6142616"/>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4429426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856343"/>
          </a:xfrm>
        </p:spPr>
        <p:txBody>
          <a:bodyPr/>
          <a:lstStyle/>
          <a:p>
            <a:pPr algn="ctr"/>
            <a:r>
              <a:rPr lang="en-US" b="1" u="sng" dirty="0">
                <a:effectLst>
                  <a:outerShdw blurRad="38100" dist="38100" dir="2700000" algn="tl">
                    <a:srgbClr val="000000">
                      <a:alpha val="43137"/>
                    </a:srgbClr>
                  </a:outerShdw>
                </a:effectLst>
              </a:rPr>
              <a:t>SCOPE OF PROPOSED SYSTEM</a:t>
            </a:r>
            <a:endParaRPr lang="en-IN" b="1" u="sng"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3" y="899659"/>
            <a:ext cx="10252301" cy="5834970"/>
          </a:xfrm>
        </p:spPr>
        <p:txBody>
          <a:bodyPr>
            <a:normAutofit/>
          </a:bodyPr>
          <a:lstStyle/>
          <a:p>
            <a:r>
              <a:rPr lang="en-IN" sz="1600" dirty="0"/>
              <a:t>Voice assistants will continue to offer more individualized experiences as they get better at differentiating between voices. </a:t>
            </a:r>
            <a:endParaRPr lang="en-IN" sz="1600" dirty="0" smtClean="0"/>
          </a:p>
          <a:p>
            <a:r>
              <a:rPr lang="en-IN" sz="1600" dirty="0" smtClean="0"/>
              <a:t>However</a:t>
            </a:r>
            <a:r>
              <a:rPr lang="en-IN" sz="1600" dirty="0"/>
              <a:t>, it’s not just developers that need to address the complexity of developing for voice as brands also need to understand the capabilities of each device and integration and if it makes sense for their specific brand. </a:t>
            </a:r>
            <a:endParaRPr lang="en-IN" sz="1600" dirty="0" smtClean="0"/>
          </a:p>
          <a:p>
            <a:r>
              <a:rPr lang="en-IN" sz="1600" dirty="0" smtClean="0"/>
              <a:t>They </a:t>
            </a:r>
            <a:r>
              <a:rPr lang="en-IN" sz="1600" dirty="0"/>
              <a:t>will also need to focus on maintaining a user experience that is consistent within the coming years as complexity becomes more of a concern. </a:t>
            </a:r>
            <a:endParaRPr lang="en-IN" sz="1600" dirty="0" smtClean="0"/>
          </a:p>
          <a:p>
            <a:r>
              <a:rPr lang="en-IN" sz="1600" dirty="0" smtClean="0"/>
              <a:t>This </a:t>
            </a:r>
            <a:r>
              <a:rPr lang="en-IN" sz="1600" dirty="0"/>
              <a:t>is because the visual interface with voice assistants is missing. Users simply cannot see or touch a voice interface.</a:t>
            </a:r>
          </a:p>
        </p:txBody>
      </p:sp>
      <p:sp>
        <p:nvSpPr>
          <p:cNvPr id="4" name="Left Arrow 3">
            <a:hlinkClick r:id="rId2" action="ppaction://hlinksldjump"/>
          </p:cNvPr>
          <p:cNvSpPr/>
          <p:nvPr/>
        </p:nvSpPr>
        <p:spPr>
          <a:xfrm>
            <a:off x="9595129" y="6110343"/>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30544921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666974"/>
          </a:xfrm>
        </p:spPr>
        <p:txBody>
          <a:bodyPr>
            <a:normAutofit/>
          </a:bodyPr>
          <a:lstStyle/>
          <a:p>
            <a:pPr algn="ctr"/>
            <a:r>
              <a:rPr lang="en-US" sz="3200" b="1" u="sng" dirty="0" smtClean="0">
                <a:effectLst>
                  <a:outerShdw blurRad="38100" dist="38100" dir="2700000" algn="tl">
                    <a:srgbClr val="000000">
                      <a:alpha val="43137"/>
                    </a:srgbClr>
                  </a:outerShdw>
                </a:effectLst>
              </a:rPr>
              <a:t>Features </a:t>
            </a:r>
            <a:endParaRPr lang="en-IN" sz="3200" b="1" u="sng"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3" y="1216751"/>
            <a:ext cx="9905999" cy="3839343"/>
          </a:xfrm>
        </p:spPr>
        <p:txBody>
          <a:bodyPr/>
          <a:lstStyle/>
          <a:p>
            <a:r>
              <a:rPr lang="en-IN" sz="1600" dirty="0"/>
              <a:t>It can get some real time information such as news headlines, weather report, IP address, Internet speed, and system stats.</a:t>
            </a:r>
          </a:p>
          <a:p>
            <a:r>
              <a:rPr lang="en-IN" sz="1600" dirty="0"/>
              <a:t>It can also get entertaining contents such as jokes, latest movies or TV series, and playing songs and videos in YouTube.</a:t>
            </a:r>
          </a:p>
          <a:p>
            <a:r>
              <a:rPr lang="en-IN" sz="1600" dirty="0"/>
              <a:t>It can perform system operations such as opening/closing/switching tabs, copying/pasting/deleting/selecting the text, creating a new file, taking screen shot, minimizing/maximizing/switching/closing windows.</a:t>
            </a:r>
          </a:p>
          <a:p>
            <a:endParaRPr lang="en-IN" dirty="0"/>
          </a:p>
        </p:txBody>
      </p:sp>
      <p:sp>
        <p:nvSpPr>
          <p:cNvPr id="4" name="Left Arrow 3">
            <a:hlinkClick r:id="rId2" action="ppaction://hlinksldjump"/>
          </p:cNvPr>
          <p:cNvSpPr/>
          <p:nvPr/>
        </p:nvSpPr>
        <p:spPr>
          <a:xfrm>
            <a:off x="9562855" y="6174889"/>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32962833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10121673" cy="696686"/>
          </a:xfrm>
        </p:spPr>
        <p:txBody>
          <a:bodyPr>
            <a:normAutofit/>
          </a:bodyPr>
          <a:lstStyle/>
          <a:p>
            <a:pPr algn="ctr"/>
            <a:r>
              <a:rPr lang="en-US" sz="3200" b="1" u="sng" dirty="0" smtClean="0">
                <a:effectLst>
                  <a:outerShdw blurRad="38100" dist="38100" dir="2700000" algn="tl">
                    <a:srgbClr val="000000">
                      <a:alpha val="43137"/>
                    </a:srgbClr>
                  </a:outerShdw>
                </a:effectLst>
              </a:rPr>
              <a:t>Merits</a:t>
            </a:r>
            <a:endParaRPr lang="en-IN" sz="3200" b="1" u="sng"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774322"/>
            <a:ext cx="10121673" cy="5943827"/>
          </a:xfrm>
        </p:spPr>
        <p:txBody>
          <a:bodyPr>
            <a:normAutofit/>
          </a:bodyPr>
          <a:lstStyle/>
          <a:p>
            <a:r>
              <a:rPr lang="en-IN" sz="2000" b="1" dirty="0" smtClean="0"/>
              <a:t>Convenience </a:t>
            </a:r>
            <a:r>
              <a:rPr lang="en-IN" sz="2000" b="1" dirty="0"/>
              <a:t>and Efficiency</a:t>
            </a:r>
            <a:r>
              <a:rPr lang="en-IN" b="1" dirty="0"/>
              <a:t>:</a:t>
            </a:r>
            <a:r>
              <a:rPr lang="en-IN" dirty="0"/>
              <a:t> </a:t>
            </a:r>
            <a:r>
              <a:rPr lang="en-IN" sz="1600" dirty="0"/>
              <a:t>AI voice assistants allow users to perform tasks hands-free, such as setting reminders, making calls, or sending messages, which can save time and streamline daily activities</a:t>
            </a:r>
            <a:r>
              <a:rPr lang="en-IN" sz="1600" dirty="0" smtClean="0"/>
              <a:t>.</a:t>
            </a:r>
            <a:endParaRPr lang="en-IN" sz="1600" dirty="0"/>
          </a:p>
          <a:p>
            <a:r>
              <a:rPr lang="en-IN" sz="2000" b="1" dirty="0" smtClean="0"/>
              <a:t>Accessibility</a:t>
            </a:r>
            <a:r>
              <a:rPr lang="en-IN" b="1" dirty="0"/>
              <a:t>:</a:t>
            </a:r>
            <a:r>
              <a:rPr lang="en-IN" dirty="0"/>
              <a:t> </a:t>
            </a:r>
            <a:r>
              <a:rPr lang="en-IN" sz="1600" dirty="0"/>
              <a:t>They help individuals with disabilities or those who have difficulty using traditional interfaces by providing an alternative means of interaction. Voice commands can assist those with visual impairments or motor difficulties</a:t>
            </a:r>
            <a:r>
              <a:rPr lang="en-IN" sz="1600" dirty="0" smtClean="0"/>
              <a:t>.</a:t>
            </a:r>
            <a:endParaRPr lang="en-IN" sz="1600" dirty="0"/>
          </a:p>
          <a:p>
            <a:r>
              <a:rPr lang="en-IN" sz="2000" b="1" dirty="0" smtClean="0"/>
              <a:t>Multitasking</a:t>
            </a:r>
            <a:r>
              <a:rPr lang="en-IN" b="1" dirty="0"/>
              <a:t>:</a:t>
            </a:r>
            <a:r>
              <a:rPr lang="en-IN" dirty="0"/>
              <a:t> </a:t>
            </a:r>
            <a:r>
              <a:rPr lang="en-IN" sz="1600" dirty="0"/>
              <a:t>Voice assistants enable users to multitask more effectively. For instance, you can cook while getting recipe instructions or exercise while listening to music or a podcast</a:t>
            </a:r>
            <a:r>
              <a:rPr lang="en-IN" sz="1600" dirty="0" smtClean="0"/>
              <a:t>.</a:t>
            </a:r>
          </a:p>
          <a:p>
            <a:r>
              <a:rPr lang="en-IN" sz="2000" b="1" dirty="0"/>
              <a:t>24/7 Availability</a:t>
            </a:r>
            <a:r>
              <a:rPr lang="en-IN" sz="1600" b="1" dirty="0"/>
              <a:t>:</a:t>
            </a:r>
            <a:r>
              <a:rPr lang="en-IN" sz="1600" dirty="0"/>
              <a:t> Unlike human assistants, AI voice assistants are available around the clock, providing support whenever needed without requiring breaks or downtime.</a:t>
            </a:r>
          </a:p>
          <a:p>
            <a:r>
              <a:rPr lang="en-IN" sz="2000" b="1" dirty="0"/>
              <a:t>Information Retrieval</a:t>
            </a:r>
            <a:r>
              <a:rPr lang="en-IN" sz="1600" b="1" dirty="0"/>
              <a:t>:</a:t>
            </a:r>
            <a:r>
              <a:rPr lang="en-IN" sz="1600" dirty="0"/>
              <a:t> Voice assistants can quickly provide information on a wide range of topics, such as weather forecasts, news updates, or general knowledge, helping users stay informed without manual searching.</a:t>
            </a:r>
          </a:p>
          <a:p>
            <a:r>
              <a:rPr lang="en-IN" sz="2000" b="1" dirty="0"/>
              <a:t>Entertainment</a:t>
            </a:r>
            <a:r>
              <a:rPr lang="en-IN" sz="1600" b="1" dirty="0"/>
              <a:t>:</a:t>
            </a:r>
            <a:r>
              <a:rPr lang="en-IN" sz="1600" dirty="0"/>
              <a:t> Voice assistants can play music, audiobooks, and podcasts, as well as provide interactive games and activities, offering a convenient source of entertainment</a:t>
            </a:r>
            <a:r>
              <a:rPr lang="en-IN" sz="1600" dirty="0" smtClean="0"/>
              <a:t>.</a:t>
            </a:r>
            <a:endParaRPr lang="en-IN" sz="1600" dirty="0"/>
          </a:p>
        </p:txBody>
      </p:sp>
      <p:sp>
        <p:nvSpPr>
          <p:cNvPr id="4" name="Left Arrow 3">
            <a:hlinkClick r:id="rId2" action="ppaction://hlinksldjump"/>
          </p:cNvPr>
          <p:cNvSpPr/>
          <p:nvPr/>
        </p:nvSpPr>
        <p:spPr>
          <a:xfrm>
            <a:off x="9552619" y="6314737"/>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194547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3077" y="817581"/>
            <a:ext cx="10223274" cy="638629"/>
          </a:xfrm>
        </p:spPr>
        <p:txBody>
          <a:bodyPr/>
          <a:lstStyle/>
          <a:p>
            <a:pPr algn="ctr"/>
            <a:r>
              <a:rPr lang="en-US" sz="3200" b="1" u="sng" dirty="0" smtClean="0">
                <a:effectLst>
                  <a:outerShdw blurRad="38100" dist="38100" dir="2700000" algn="tl">
                    <a:srgbClr val="000000">
                      <a:alpha val="43137"/>
                    </a:srgbClr>
                  </a:outerShdw>
                </a:effectLst>
              </a:rPr>
              <a:t>Module</a:t>
            </a:r>
            <a:endParaRPr lang="en-IN" b="1" u="sng"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1775012"/>
            <a:ext cx="10223274" cy="4588136"/>
          </a:xfrm>
        </p:spPr>
        <p:txBody>
          <a:bodyPr/>
          <a:lstStyle/>
          <a:p>
            <a:r>
              <a:rPr lang="en-US" b="1" u="sng" dirty="0" smtClean="0"/>
              <a:t>Login / Register Panel</a:t>
            </a:r>
            <a:r>
              <a:rPr lang="en-US" dirty="0" smtClean="0"/>
              <a:t>: </a:t>
            </a:r>
            <a:r>
              <a:rPr lang="en-US" sz="1600" dirty="0" smtClean="0"/>
              <a:t>User Will need to register himself to use Application. After registration only user will be able to use Application.</a:t>
            </a:r>
            <a:endParaRPr lang="en-US" dirty="0" smtClean="0"/>
          </a:p>
          <a:p>
            <a:r>
              <a:rPr lang="en-US" b="1" u="sng" dirty="0" smtClean="0"/>
              <a:t>User Panel:</a:t>
            </a:r>
            <a:r>
              <a:rPr lang="en-US" dirty="0" smtClean="0"/>
              <a:t> </a:t>
            </a:r>
            <a:r>
              <a:rPr lang="en-US" sz="1600" dirty="0" smtClean="0"/>
              <a:t>The Main GUI from which User will interact to Virtual Assistant. It Will be of two types as bellow.</a:t>
            </a:r>
          </a:p>
          <a:p>
            <a:r>
              <a:rPr lang="en-US" b="1" u="sng" dirty="0" smtClean="0"/>
              <a:t>ChatBot Panel:</a:t>
            </a:r>
            <a:r>
              <a:rPr lang="en-US" dirty="0" smtClean="0"/>
              <a:t> </a:t>
            </a:r>
            <a:r>
              <a:rPr lang="en-US" sz="1600" dirty="0" smtClean="0"/>
              <a:t>The GUI Page where User will be able to enter query and he/she will get response by Machine.</a:t>
            </a:r>
          </a:p>
          <a:p>
            <a:r>
              <a:rPr lang="en-US" b="1" u="sng" dirty="0" smtClean="0"/>
              <a:t>Talk Panel:</a:t>
            </a:r>
            <a:r>
              <a:rPr lang="en-US" dirty="0" smtClean="0"/>
              <a:t> </a:t>
            </a:r>
            <a:r>
              <a:rPr lang="en-US" sz="1600" dirty="0" smtClean="0"/>
              <a:t>The GUI Page Where User will be able to interact with Machine by Speaking Command and will get output by Machine through Speaker.</a:t>
            </a:r>
            <a:endParaRPr lang="en-US" b="1" u="sng" dirty="0" smtClean="0"/>
          </a:p>
        </p:txBody>
      </p:sp>
      <p:sp>
        <p:nvSpPr>
          <p:cNvPr id="4" name="Left Arrow 3">
            <a:hlinkClick r:id="rId2" action="ppaction://hlinksldjump"/>
          </p:cNvPr>
          <p:cNvSpPr/>
          <p:nvPr/>
        </p:nvSpPr>
        <p:spPr>
          <a:xfrm>
            <a:off x="9535885" y="6278538"/>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33720983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52461"/>
            <a:ext cx="9905998" cy="861939"/>
          </a:xfrm>
        </p:spPr>
        <p:txBody>
          <a:bodyPr/>
          <a:lstStyle/>
          <a:p>
            <a:pPr algn="ctr"/>
            <a:r>
              <a:rPr lang="en-IN" b="1" u="sng" dirty="0">
                <a:effectLst>
                  <a:outerShdw blurRad="38100" dist="38100" dir="2700000" algn="tl">
                    <a:srgbClr val="000000">
                      <a:alpha val="43137"/>
                    </a:srgbClr>
                  </a:outerShdw>
                </a:effectLst>
              </a:rPr>
              <a:t>System Overview </a:t>
            </a:r>
            <a:endParaRPr lang="en-IN"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04178799"/>
              </p:ext>
            </p:extLst>
          </p:nvPr>
        </p:nvGraphicFramePr>
        <p:xfrm>
          <a:off x="4976944" y="914400"/>
          <a:ext cx="7781625" cy="6073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782184" y="914400"/>
            <a:ext cx="7180235" cy="923330"/>
          </a:xfrm>
          <a:prstGeom prst="rect">
            <a:avLst/>
          </a:prstGeom>
          <a:noFill/>
        </p:spPr>
        <p:txBody>
          <a:bodyPr wrap="none" rtlCol="0">
            <a:spAutoFit/>
          </a:bodyPr>
          <a:lstStyle/>
          <a:p>
            <a:r>
              <a:rPr lang="en-IN" dirty="0"/>
              <a:t>A virtual voice assistant is a software program that utilizes natural </a:t>
            </a:r>
            <a:r>
              <a:rPr lang="en-IN" dirty="0" smtClean="0"/>
              <a:t>language</a:t>
            </a:r>
          </a:p>
          <a:p>
            <a:r>
              <a:rPr lang="en-IN" dirty="0" smtClean="0"/>
              <a:t>processing </a:t>
            </a:r>
            <a:r>
              <a:rPr lang="en-IN" dirty="0"/>
              <a:t>and voice recognition technologies to understand and </a:t>
            </a:r>
            <a:endParaRPr lang="en-IN" dirty="0" smtClean="0"/>
          </a:p>
          <a:p>
            <a:r>
              <a:rPr lang="en-IN" dirty="0" smtClean="0"/>
              <a:t>respond </a:t>
            </a:r>
            <a:r>
              <a:rPr lang="en-IN" dirty="0"/>
              <a:t>to spoken commands and queries. </a:t>
            </a:r>
          </a:p>
        </p:txBody>
      </p:sp>
      <p:sp>
        <p:nvSpPr>
          <p:cNvPr id="5" name="Left Arrow 4">
            <a:hlinkClick r:id="rId7" action="ppaction://hlinksldjump"/>
          </p:cNvPr>
          <p:cNvSpPr/>
          <p:nvPr/>
        </p:nvSpPr>
        <p:spPr>
          <a:xfrm>
            <a:off x="9554659" y="6361355"/>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12819833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noAutofit/>
          </a:bodyPr>
          <a:lstStyle/>
          <a:p>
            <a:r>
              <a:rPr lang="en-IN" sz="2000" b="1" dirty="0" smtClean="0"/>
              <a:t>			</a:t>
            </a:r>
            <a:r>
              <a:rPr lang="en-IN" sz="2800" b="1" u="sng" dirty="0" smtClean="0"/>
              <a:t>Algorithm used</a:t>
            </a:r>
            <a:r>
              <a:rPr lang="en-IN" sz="2000" b="1" u="sng" dirty="0"/>
              <a:t/>
            </a:r>
            <a:br>
              <a:rPr lang="en-IN" sz="2000" b="1" u="sng" dirty="0"/>
            </a:br>
            <a:r>
              <a:rPr lang="en-IN" sz="2000" b="1" u="sng" dirty="0" smtClean="0"/>
              <a:t>LLMs</a:t>
            </a:r>
            <a:r>
              <a:rPr lang="en-IN" sz="2000" b="1" dirty="0"/>
              <a:t>:</a:t>
            </a:r>
            <a:r>
              <a:rPr lang="en-IN" sz="2000" dirty="0"/>
              <a:t> </a:t>
            </a:r>
            <a:r>
              <a:rPr lang="en-IN" sz="1800" cap="none" dirty="0" smtClean="0"/>
              <a:t>Large language models (</a:t>
            </a:r>
            <a:r>
              <a:rPr lang="en-IN" sz="1800" cap="none" dirty="0" err="1" smtClean="0"/>
              <a:t>llms</a:t>
            </a:r>
            <a:r>
              <a:rPr lang="en-IN" sz="1800" cap="none" dirty="0" smtClean="0"/>
              <a:t>) are advanced AI systems designed to understand and generate human language. Here's a structured breakdown of their characteristics, functionality, applications, limitations, and ethical considerations.</a:t>
            </a:r>
            <a:endParaRPr lang="en-IN" sz="11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067" y="1478570"/>
            <a:ext cx="8074690" cy="4730819"/>
          </a:xfrm>
        </p:spPr>
      </p:pic>
      <p:sp>
        <p:nvSpPr>
          <p:cNvPr id="5" name="Left Arrow 4">
            <a:hlinkClick r:id="rId3" action="ppaction://hlinksldjump"/>
          </p:cNvPr>
          <p:cNvSpPr/>
          <p:nvPr/>
        </p:nvSpPr>
        <p:spPr>
          <a:xfrm>
            <a:off x="9554659" y="6361355"/>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35206553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1"/>
          <p:cNvSpPr>
            <a:spLocks noGrp="1"/>
          </p:cNvSpPr>
          <p:nvPr>
            <p:ph type="title"/>
          </p:nvPr>
        </p:nvSpPr>
        <p:spPr>
          <a:xfrm>
            <a:off x="1085709" y="11594"/>
            <a:ext cx="9905998" cy="516366"/>
          </a:xfrm>
        </p:spPr>
        <p:txBody>
          <a:bodyPr>
            <a:noAutofit/>
          </a:bodyPr>
          <a:lstStyle/>
          <a:p>
            <a:pPr algn="ctr"/>
            <a:r>
              <a:rPr lang="en-US" sz="3200" b="1" u="sng" dirty="0">
                <a:effectLst>
                  <a:outerShdw blurRad="38100" dist="38100" dir="2700000" algn="tl">
                    <a:srgbClr val="000000">
                      <a:alpha val="43137"/>
                    </a:srgbClr>
                  </a:outerShdw>
                </a:effectLst>
              </a:rPr>
              <a:t>Use Case </a:t>
            </a:r>
            <a:r>
              <a:rPr lang="en-US" sz="3200" b="1" u="sng" dirty="0" smtClean="0">
                <a:effectLst>
                  <a:outerShdw blurRad="38100" dist="38100" dir="2700000" algn="tl">
                    <a:srgbClr val="000000">
                      <a:alpha val="43137"/>
                    </a:srgbClr>
                  </a:outerShdw>
                </a:effectLst>
              </a:rPr>
              <a:t>Diagram</a:t>
            </a:r>
            <a:endParaRPr lang="en-US" sz="3200" b="1" u="sng" dirty="0">
              <a:effectLst>
                <a:outerShdw blurRad="38100" dist="38100" dir="2700000" algn="tl">
                  <a:srgbClr val="000000">
                    <a:alpha val="43137"/>
                  </a:srgbClr>
                </a:outerShdw>
              </a:effectLst>
            </a:endParaRPr>
          </a:p>
        </p:txBody>
      </p:sp>
      <p:sp>
        <p:nvSpPr>
          <p:cNvPr id="2" name="Rectangle 1"/>
          <p:cNvSpPr/>
          <p:nvPr/>
        </p:nvSpPr>
        <p:spPr>
          <a:xfrm>
            <a:off x="5180832" y="1059596"/>
            <a:ext cx="3984599" cy="429953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sz="2800" dirty="0" smtClean="0"/>
          </a:p>
          <a:p>
            <a:pPr algn="ctr"/>
            <a:endParaRPr lang="en-US" sz="2800" dirty="0"/>
          </a:p>
          <a:p>
            <a:pPr algn="ctr"/>
            <a:endParaRPr lang="en-US" sz="2800" dirty="0" smtClean="0"/>
          </a:p>
          <a:p>
            <a:pPr algn="ctr"/>
            <a:r>
              <a:rPr lang="en-US" sz="2800" dirty="0" smtClean="0"/>
              <a:t>Virtual Assistant</a:t>
            </a:r>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smtClean="0"/>
          </a:p>
        </p:txBody>
      </p:sp>
      <p:sp>
        <p:nvSpPr>
          <p:cNvPr id="4" name="Oval 3"/>
          <p:cNvSpPr/>
          <p:nvPr/>
        </p:nvSpPr>
        <p:spPr>
          <a:xfrm>
            <a:off x="5527382" y="1669588"/>
            <a:ext cx="2280621" cy="828339"/>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Commands</a:t>
            </a:r>
            <a:endParaRPr lang="en-IN" dirty="0"/>
          </a:p>
        </p:txBody>
      </p:sp>
      <p:sp>
        <p:nvSpPr>
          <p:cNvPr id="5" name="Oval 4"/>
          <p:cNvSpPr/>
          <p:nvPr/>
        </p:nvSpPr>
        <p:spPr>
          <a:xfrm>
            <a:off x="6310640" y="4012483"/>
            <a:ext cx="2323652" cy="860612"/>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Response</a:t>
            </a:r>
            <a:endParaRPr lang="en-IN" dirty="0"/>
          </a:p>
        </p:txBody>
      </p:sp>
      <p:cxnSp>
        <p:nvCxnSpPr>
          <p:cNvPr id="7" name="Straight Arrow Connector 6"/>
          <p:cNvCxnSpPr>
            <a:stCxn id="4" idx="4"/>
            <a:endCxn id="5" idx="0"/>
          </p:cNvCxnSpPr>
          <p:nvPr/>
        </p:nvCxnSpPr>
        <p:spPr>
          <a:xfrm>
            <a:off x="6667693" y="2497927"/>
            <a:ext cx="804773" cy="15145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6"/>
          </p:cNvCxnSpPr>
          <p:nvPr/>
        </p:nvCxnSpPr>
        <p:spPr>
          <a:xfrm flipV="1">
            <a:off x="3302644" y="2123724"/>
            <a:ext cx="2224738" cy="8790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5"/>
          </p:cNvCxnSpPr>
          <p:nvPr/>
        </p:nvCxnSpPr>
        <p:spPr>
          <a:xfrm>
            <a:off x="3242778" y="3124436"/>
            <a:ext cx="3071961" cy="12969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rot="20251844">
            <a:off x="3150311" y="2322750"/>
            <a:ext cx="2076165" cy="369332"/>
          </a:xfrm>
          <a:prstGeom prst="rect">
            <a:avLst/>
          </a:prstGeom>
          <a:noFill/>
        </p:spPr>
        <p:txBody>
          <a:bodyPr wrap="square" rtlCol="0">
            <a:spAutoFit/>
          </a:bodyPr>
          <a:lstStyle/>
          <a:p>
            <a:pPr algn="ctr"/>
            <a:r>
              <a:rPr lang="en-US" dirty="0" smtClean="0"/>
              <a:t>Queries</a:t>
            </a:r>
            <a:endParaRPr lang="en-IN" dirty="0"/>
          </a:p>
        </p:txBody>
      </p:sp>
      <p:sp>
        <p:nvSpPr>
          <p:cNvPr id="16" name="TextBox 15"/>
          <p:cNvSpPr txBox="1"/>
          <p:nvPr/>
        </p:nvSpPr>
        <p:spPr>
          <a:xfrm rot="1396486">
            <a:off x="4131067" y="3395509"/>
            <a:ext cx="1018227" cy="369332"/>
          </a:xfrm>
          <a:prstGeom prst="rect">
            <a:avLst/>
          </a:prstGeom>
          <a:noFill/>
        </p:spPr>
        <p:txBody>
          <a:bodyPr wrap="none" rtlCol="0">
            <a:spAutoFit/>
          </a:bodyPr>
          <a:lstStyle/>
          <a:p>
            <a:r>
              <a:rPr lang="en-US" dirty="0" smtClean="0"/>
              <a:t>Recieves</a:t>
            </a:r>
            <a:endParaRPr lang="en-IN" dirty="0"/>
          </a:p>
        </p:txBody>
      </p:sp>
      <p:sp>
        <p:nvSpPr>
          <p:cNvPr id="17" name="TextBox 16"/>
          <p:cNvSpPr txBox="1"/>
          <p:nvPr/>
        </p:nvSpPr>
        <p:spPr>
          <a:xfrm rot="3644769">
            <a:off x="6541884" y="3064162"/>
            <a:ext cx="1492716" cy="369332"/>
          </a:xfrm>
          <a:prstGeom prst="rect">
            <a:avLst/>
          </a:prstGeom>
          <a:noFill/>
        </p:spPr>
        <p:txBody>
          <a:bodyPr wrap="none" rtlCol="0">
            <a:spAutoFit/>
          </a:bodyPr>
          <a:lstStyle/>
          <a:p>
            <a:r>
              <a:rPr lang="en-US" dirty="0" smtClean="0"/>
              <a:t>Interpreted to </a:t>
            </a:r>
            <a:endParaRPr lang="en-IN" dirty="0"/>
          </a:p>
        </p:txBody>
      </p:sp>
      <p:grpSp>
        <p:nvGrpSpPr>
          <p:cNvPr id="30" name="Group 29"/>
          <p:cNvGrpSpPr/>
          <p:nvPr/>
        </p:nvGrpSpPr>
        <p:grpSpPr>
          <a:xfrm>
            <a:off x="2893854" y="2830605"/>
            <a:ext cx="408790" cy="857923"/>
            <a:chOff x="4249271" y="2700169"/>
            <a:chExt cx="408790" cy="857923"/>
          </a:xfrm>
        </p:grpSpPr>
        <p:sp>
          <p:nvSpPr>
            <p:cNvPr id="6" name="Oval 5"/>
            <p:cNvSpPr/>
            <p:nvPr/>
          </p:nvSpPr>
          <p:spPr>
            <a:xfrm>
              <a:off x="4249271" y="2700169"/>
              <a:ext cx="408790" cy="344245"/>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dirty="0"/>
            </a:p>
          </p:txBody>
        </p:sp>
        <p:cxnSp>
          <p:nvCxnSpPr>
            <p:cNvPr id="11" name="Straight Connector 10"/>
            <p:cNvCxnSpPr>
              <a:stCxn id="6" idx="4"/>
            </p:cNvCxnSpPr>
            <p:nvPr/>
          </p:nvCxnSpPr>
          <p:spPr>
            <a:xfrm>
              <a:off x="4453666" y="3044414"/>
              <a:ext cx="0" cy="405326"/>
            </a:xfrm>
            <a:prstGeom prst="lin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cxnSp>
        <p:cxnSp>
          <p:nvCxnSpPr>
            <p:cNvPr id="14" name="Straight Connector 13"/>
            <p:cNvCxnSpPr>
              <a:stCxn id="6" idx="4"/>
            </p:cNvCxnSpPr>
            <p:nvPr/>
          </p:nvCxnSpPr>
          <p:spPr>
            <a:xfrm flipH="1">
              <a:off x="4313816" y="3044414"/>
              <a:ext cx="139850" cy="129092"/>
            </a:xfrm>
            <a:prstGeom prst="lin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cxnSp>
        <p:cxnSp>
          <p:nvCxnSpPr>
            <p:cNvPr id="19" name="Straight Connector 18"/>
            <p:cNvCxnSpPr>
              <a:stCxn id="6" idx="4"/>
            </p:cNvCxnSpPr>
            <p:nvPr/>
          </p:nvCxnSpPr>
          <p:spPr>
            <a:xfrm>
              <a:off x="4453666" y="3044414"/>
              <a:ext cx="129092" cy="137160"/>
            </a:xfrm>
            <a:prstGeom prst="lin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cxnSp>
        <p:cxnSp>
          <p:nvCxnSpPr>
            <p:cNvPr id="20" name="Straight Connector 19"/>
            <p:cNvCxnSpPr/>
            <p:nvPr/>
          </p:nvCxnSpPr>
          <p:spPr>
            <a:xfrm flipH="1">
              <a:off x="4308437" y="3429000"/>
              <a:ext cx="139850" cy="129092"/>
            </a:xfrm>
            <a:prstGeom prst="lin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cxnSp>
        <p:cxnSp>
          <p:nvCxnSpPr>
            <p:cNvPr id="21" name="Straight Connector 20"/>
            <p:cNvCxnSpPr/>
            <p:nvPr/>
          </p:nvCxnSpPr>
          <p:spPr>
            <a:xfrm>
              <a:off x="4452745" y="3429000"/>
              <a:ext cx="151528" cy="129092"/>
            </a:xfrm>
            <a:prstGeom prst="lin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cxnSp>
      </p:grpSp>
      <p:sp>
        <p:nvSpPr>
          <p:cNvPr id="22" name="Left Arrow 21">
            <a:hlinkClick r:id="rId2" action="ppaction://hlinksldjump"/>
          </p:cNvPr>
          <p:cNvSpPr/>
          <p:nvPr/>
        </p:nvSpPr>
        <p:spPr>
          <a:xfrm>
            <a:off x="9487552" y="6355127"/>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6156140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p:cNvSpPr>
            <a:spLocks noGrp="1"/>
          </p:cNvSpPr>
          <p:nvPr>
            <p:ph type="title"/>
          </p:nvPr>
        </p:nvSpPr>
        <p:spPr>
          <a:xfrm>
            <a:off x="1141413" y="26847"/>
            <a:ext cx="9905998" cy="698308"/>
          </a:xfrm>
        </p:spPr>
        <p:txBody>
          <a:bodyPr>
            <a:normAutofit/>
          </a:bodyPr>
          <a:lstStyle/>
          <a:p>
            <a:pPr algn="ctr"/>
            <a:r>
              <a:rPr lang="en-US" b="1" u="sng" dirty="0" smtClean="0">
                <a:effectLst>
                  <a:outerShdw blurRad="38100" dist="38100" dir="2700000" algn="tl">
                    <a:srgbClr val="000000">
                      <a:alpha val="43137"/>
                    </a:srgbClr>
                  </a:outerShdw>
                </a:effectLst>
              </a:rPr>
              <a:t>Class Diagram</a:t>
            </a:r>
            <a:endParaRPr lang="en-IN" b="1" u="sng" dirty="0">
              <a:effectLst>
                <a:outerShdw blurRad="38100" dist="38100" dir="2700000" algn="tl">
                  <a:srgbClr val="000000">
                    <a:alpha val="43137"/>
                  </a:srgbClr>
                </a:outerShdw>
              </a:effectLst>
            </a:endParaRPr>
          </a:p>
        </p:txBody>
      </p:sp>
      <p:graphicFrame>
        <p:nvGraphicFramePr>
          <p:cNvPr id="10" name="Table 9"/>
          <p:cNvGraphicFramePr>
            <a:graphicFrameLocks noGrp="1"/>
          </p:cNvGraphicFramePr>
          <p:nvPr>
            <p:extLst>
              <p:ext uri="{D42A27DB-BD31-4B8C-83A1-F6EECF244321}">
                <p14:modId xmlns:p14="http://schemas.microsoft.com/office/powerpoint/2010/main" val="1559939429"/>
              </p:ext>
            </p:extLst>
          </p:nvPr>
        </p:nvGraphicFramePr>
        <p:xfrm>
          <a:off x="4591818" y="830844"/>
          <a:ext cx="2936838" cy="1493520"/>
        </p:xfrm>
        <a:graphic>
          <a:graphicData uri="http://schemas.openxmlformats.org/drawingml/2006/table">
            <a:tbl>
              <a:tblPr firstRow="1" bandRow="1">
                <a:tableStyleId>{5940675A-B579-460E-94D1-54222C63F5DA}</a:tableStyleId>
              </a:tblPr>
              <a:tblGrid>
                <a:gridCol w="2936838">
                  <a:extLst>
                    <a:ext uri="{9D8B030D-6E8A-4147-A177-3AD203B41FA5}">
                      <a16:colId xmlns:a16="http://schemas.microsoft.com/office/drawing/2014/main" val="3514350194"/>
                    </a:ext>
                  </a:extLst>
                </a:gridCol>
              </a:tblGrid>
              <a:tr h="315960">
                <a:tc>
                  <a:txBody>
                    <a:bodyPr/>
                    <a:lstStyle/>
                    <a:p>
                      <a:pPr algn="ctr"/>
                      <a:r>
                        <a:rPr lang="en-US" sz="1600" dirty="0" smtClean="0"/>
                        <a:t>User</a:t>
                      </a:r>
                      <a:endParaRPr lang="en-IN" sz="1600" dirty="0"/>
                    </a:p>
                  </a:txBody>
                  <a:tcPr/>
                </a:tc>
                <a:extLst>
                  <a:ext uri="{0D108BD9-81ED-4DB2-BD59-A6C34878D82A}">
                    <a16:rowId xmlns:a16="http://schemas.microsoft.com/office/drawing/2014/main" val="919067487"/>
                  </a:ext>
                </a:extLst>
              </a:tr>
              <a:tr h="545749">
                <a:tc>
                  <a:txBody>
                    <a:bodyPr/>
                    <a:lstStyle/>
                    <a:p>
                      <a:r>
                        <a:rPr lang="en-US" sz="1600" dirty="0" smtClean="0"/>
                        <a:t>+Command</a:t>
                      </a:r>
                      <a:r>
                        <a:rPr lang="en-US" sz="1600" baseline="0" dirty="0" smtClean="0"/>
                        <a:t> Audio/Text</a:t>
                      </a:r>
                    </a:p>
                    <a:p>
                      <a:r>
                        <a:rPr lang="en-US" sz="1600" baseline="0" dirty="0" smtClean="0"/>
                        <a:t>+Response Audio/Text</a:t>
                      </a:r>
                      <a:endParaRPr lang="en-IN" sz="1600" dirty="0"/>
                    </a:p>
                  </a:txBody>
                  <a:tcPr/>
                </a:tc>
                <a:extLst>
                  <a:ext uri="{0D108BD9-81ED-4DB2-BD59-A6C34878D82A}">
                    <a16:rowId xmlns:a16="http://schemas.microsoft.com/office/drawing/2014/main" val="1284024177"/>
                  </a:ext>
                </a:extLst>
              </a:tr>
              <a:tr h="545749">
                <a:tc>
                  <a:txBody>
                    <a:bodyPr/>
                    <a:lstStyle/>
                    <a:p>
                      <a:r>
                        <a:rPr lang="en-US" sz="1600" dirty="0" smtClean="0"/>
                        <a:t>Listen()</a:t>
                      </a:r>
                    </a:p>
                    <a:p>
                      <a:r>
                        <a:rPr lang="en-US" sz="1600" dirty="0" smtClean="0"/>
                        <a:t>Speak()</a:t>
                      </a:r>
                    </a:p>
                  </a:txBody>
                  <a:tcPr/>
                </a:tc>
                <a:extLst>
                  <a:ext uri="{0D108BD9-81ED-4DB2-BD59-A6C34878D82A}">
                    <a16:rowId xmlns:a16="http://schemas.microsoft.com/office/drawing/2014/main" val="1143918339"/>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497952548"/>
              </p:ext>
            </p:extLst>
          </p:nvPr>
        </p:nvGraphicFramePr>
        <p:xfrm>
          <a:off x="794870" y="3385073"/>
          <a:ext cx="2884245" cy="1529080"/>
        </p:xfrm>
        <a:graphic>
          <a:graphicData uri="http://schemas.openxmlformats.org/drawingml/2006/table">
            <a:tbl>
              <a:tblPr firstRow="1" bandRow="1">
                <a:tableStyleId>{5940675A-B579-460E-94D1-54222C63F5DA}</a:tableStyleId>
              </a:tblPr>
              <a:tblGrid>
                <a:gridCol w="2884245">
                  <a:extLst>
                    <a:ext uri="{9D8B030D-6E8A-4147-A177-3AD203B41FA5}">
                      <a16:colId xmlns:a16="http://schemas.microsoft.com/office/drawing/2014/main" val="2442517207"/>
                    </a:ext>
                  </a:extLst>
                </a:gridCol>
              </a:tblGrid>
              <a:tr h="0">
                <a:tc>
                  <a:txBody>
                    <a:bodyPr/>
                    <a:lstStyle/>
                    <a:p>
                      <a:pPr algn="ctr"/>
                      <a:r>
                        <a:rPr lang="en-US" sz="1600" dirty="0" smtClean="0"/>
                        <a:t>Question </a:t>
                      </a:r>
                      <a:endParaRPr lang="en-IN" sz="1600" dirty="0"/>
                    </a:p>
                  </a:txBody>
                  <a:tcPr/>
                </a:tc>
                <a:extLst>
                  <a:ext uri="{0D108BD9-81ED-4DB2-BD59-A6C34878D82A}">
                    <a16:rowId xmlns:a16="http://schemas.microsoft.com/office/drawing/2014/main" val="3387493833"/>
                  </a:ext>
                </a:extLst>
              </a:tr>
              <a:tr h="370840">
                <a:tc>
                  <a:txBody>
                    <a:bodyPr/>
                    <a:lstStyle/>
                    <a:p>
                      <a:r>
                        <a:rPr lang="en-US" sz="1600" dirty="0" smtClean="0"/>
                        <a:t>+Command</a:t>
                      </a:r>
                      <a:r>
                        <a:rPr lang="en-US" sz="1600" baseline="0" dirty="0" smtClean="0"/>
                        <a:t> String</a:t>
                      </a:r>
                      <a:endParaRPr lang="en-IN" sz="1600" dirty="0"/>
                    </a:p>
                  </a:txBody>
                  <a:tcPr/>
                </a:tc>
                <a:extLst>
                  <a:ext uri="{0D108BD9-81ED-4DB2-BD59-A6C34878D82A}">
                    <a16:rowId xmlns:a16="http://schemas.microsoft.com/office/drawing/2014/main" val="208769487"/>
                  </a:ext>
                </a:extLst>
              </a:tr>
              <a:tr h="619162">
                <a:tc>
                  <a:txBody>
                    <a:bodyPr/>
                    <a:lstStyle/>
                    <a:p>
                      <a:r>
                        <a:rPr lang="en-US" sz="1600" dirty="0" smtClean="0"/>
                        <a:t>General()</a:t>
                      </a:r>
                    </a:p>
                    <a:p>
                      <a:r>
                        <a:rPr lang="en-US" sz="1600" dirty="0" smtClean="0"/>
                        <a:t>About()</a:t>
                      </a:r>
                    </a:p>
                    <a:p>
                      <a:r>
                        <a:rPr lang="en-US" sz="1600" dirty="0" smtClean="0"/>
                        <a:t>Search()</a:t>
                      </a:r>
                      <a:endParaRPr lang="en-IN" sz="1600" dirty="0"/>
                    </a:p>
                  </a:txBody>
                  <a:tcPr/>
                </a:tc>
                <a:extLst>
                  <a:ext uri="{0D108BD9-81ED-4DB2-BD59-A6C34878D82A}">
                    <a16:rowId xmlns:a16="http://schemas.microsoft.com/office/drawing/2014/main" val="326931333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453535887"/>
              </p:ext>
            </p:extLst>
          </p:nvPr>
        </p:nvGraphicFramePr>
        <p:xfrm>
          <a:off x="8486588" y="3356385"/>
          <a:ext cx="2884245" cy="1514729"/>
        </p:xfrm>
        <a:graphic>
          <a:graphicData uri="http://schemas.openxmlformats.org/drawingml/2006/table">
            <a:tbl>
              <a:tblPr firstRow="1" bandRow="1">
                <a:tableStyleId>{5940675A-B579-460E-94D1-54222C63F5DA}</a:tableStyleId>
              </a:tblPr>
              <a:tblGrid>
                <a:gridCol w="2884245">
                  <a:extLst>
                    <a:ext uri="{9D8B030D-6E8A-4147-A177-3AD203B41FA5}">
                      <a16:colId xmlns:a16="http://schemas.microsoft.com/office/drawing/2014/main" val="2442517207"/>
                    </a:ext>
                  </a:extLst>
                </a:gridCol>
              </a:tblGrid>
              <a:tr h="197530">
                <a:tc>
                  <a:txBody>
                    <a:bodyPr/>
                    <a:lstStyle/>
                    <a:p>
                      <a:pPr algn="ctr"/>
                      <a:r>
                        <a:rPr lang="en-US" sz="1600" dirty="0" smtClean="0"/>
                        <a:t>Task</a:t>
                      </a:r>
                      <a:endParaRPr lang="en-IN" sz="1600" dirty="0"/>
                    </a:p>
                  </a:txBody>
                  <a:tcPr/>
                </a:tc>
                <a:extLst>
                  <a:ext uri="{0D108BD9-81ED-4DB2-BD59-A6C34878D82A}">
                    <a16:rowId xmlns:a16="http://schemas.microsoft.com/office/drawing/2014/main" val="3387493833"/>
                  </a:ext>
                </a:extLst>
              </a:tr>
              <a:tr h="356489">
                <a:tc>
                  <a:txBody>
                    <a:bodyPr/>
                    <a:lstStyle/>
                    <a:p>
                      <a:r>
                        <a:rPr lang="en-US" sz="1600" dirty="0" smtClean="0"/>
                        <a:t>+Command</a:t>
                      </a:r>
                      <a:r>
                        <a:rPr lang="en-US" sz="1600" baseline="0" dirty="0" smtClean="0"/>
                        <a:t> String</a:t>
                      </a:r>
                      <a:endParaRPr lang="en-IN" sz="1600" dirty="0"/>
                    </a:p>
                  </a:txBody>
                  <a:tcPr/>
                </a:tc>
                <a:extLst>
                  <a:ext uri="{0D108BD9-81ED-4DB2-BD59-A6C34878D82A}">
                    <a16:rowId xmlns:a16="http://schemas.microsoft.com/office/drawing/2014/main" val="208769487"/>
                  </a:ext>
                </a:extLst>
              </a:tr>
              <a:tr h="639797">
                <a:tc>
                  <a:txBody>
                    <a:bodyPr/>
                    <a:lstStyle/>
                    <a:p>
                      <a:r>
                        <a:rPr lang="en-US" sz="1600" dirty="0" smtClean="0"/>
                        <a:t>Reminder(),Research()</a:t>
                      </a:r>
                    </a:p>
                    <a:p>
                      <a:r>
                        <a:rPr lang="en-US" sz="1600" dirty="0" smtClean="0"/>
                        <a:t>Open Websites()</a:t>
                      </a:r>
                    </a:p>
                    <a:p>
                      <a:r>
                        <a:rPr lang="en-US" sz="1600" dirty="0" smtClean="0"/>
                        <a:t>Play Music()</a:t>
                      </a:r>
                      <a:endParaRPr lang="en-IN" sz="1600" dirty="0"/>
                    </a:p>
                  </a:txBody>
                  <a:tcPr/>
                </a:tc>
                <a:extLst>
                  <a:ext uri="{0D108BD9-81ED-4DB2-BD59-A6C34878D82A}">
                    <a16:rowId xmlns:a16="http://schemas.microsoft.com/office/drawing/2014/main" val="3269313331"/>
                  </a:ext>
                </a:extLst>
              </a:tr>
            </a:tbl>
          </a:graphicData>
        </a:graphic>
      </p:graphicFrame>
      <p:cxnSp>
        <p:nvCxnSpPr>
          <p:cNvPr id="14" name="Elbow Connector 13"/>
          <p:cNvCxnSpPr>
            <a:stCxn id="9" idx="1"/>
            <a:endCxn id="11" idx="0"/>
          </p:cNvCxnSpPr>
          <p:nvPr/>
        </p:nvCxnSpPr>
        <p:spPr>
          <a:xfrm rot="10800000" flipV="1">
            <a:off x="2236992" y="3173981"/>
            <a:ext cx="2354826" cy="211091"/>
          </a:xfrm>
          <a:prstGeom prst="bentConnector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Elbow Connector 15"/>
          <p:cNvCxnSpPr>
            <a:stCxn id="9" idx="3"/>
            <a:endCxn id="12" idx="0"/>
          </p:cNvCxnSpPr>
          <p:nvPr/>
        </p:nvCxnSpPr>
        <p:spPr>
          <a:xfrm>
            <a:off x="7528656" y="3173982"/>
            <a:ext cx="2400054" cy="182403"/>
          </a:xfrm>
          <a:prstGeom prst="bentConnector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363408048"/>
              </p:ext>
            </p:extLst>
          </p:nvPr>
        </p:nvGraphicFramePr>
        <p:xfrm>
          <a:off x="4591818" y="2671062"/>
          <a:ext cx="2936838" cy="1005840"/>
        </p:xfrm>
        <a:graphic>
          <a:graphicData uri="http://schemas.openxmlformats.org/drawingml/2006/table">
            <a:tbl>
              <a:tblPr firstRow="1" bandRow="1">
                <a:tableStyleId>{5940675A-B579-460E-94D1-54222C63F5DA}</a:tableStyleId>
              </a:tblPr>
              <a:tblGrid>
                <a:gridCol w="2936838">
                  <a:extLst>
                    <a:ext uri="{9D8B030D-6E8A-4147-A177-3AD203B41FA5}">
                      <a16:colId xmlns:a16="http://schemas.microsoft.com/office/drawing/2014/main" val="3514350194"/>
                    </a:ext>
                  </a:extLst>
                </a:gridCol>
              </a:tblGrid>
              <a:tr h="233082">
                <a:tc>
                  <a:txBody>
                    <a:bodyPr/>
                    <a:lstStyle/>
                    <a:p>
                      <a:pPr algn="ctr"/>
                      <a:r>
                        <a:rPr lang="en-US" sz="1600" dirty="0" smtClean="0"/>
                        <a:t>Brain</a:t>
                      </a:r>
                      <a:endParaRPr lang="en-IN" sz="1600" dirty="0"/>
                    </a:p>
                  </a:txBody>
                  <a:tcPr/>
                </a:tc>
                <a:extLst>
                  <a:ext uri="{0D108BD9-81ED-4DB2-BD59-A6C34878D82A}">
                    <a16:rowId xmlns:a16="http://schemas.microsoft.com/office/drawing/2014/main" val="919067487"/>
                  </a:ext>
                </a:extLst>
              </a:tr>
              <a:tr h="277907">
                <a:tc>
                  <a:txBody>
                    <a:bodyPr/>
                    <a:lstStyle/>
                    <a:p>
                      <a:r>
                        <a:rPr lang="en-US" sz="1600" dirty="0" smtClean="0"/>
                        <a:t>+Command</a:t>
                      </a:r>
                      <a:r>
                        <a:rPr lang="en-US" sz="1600" baseline="0" dirty="0" smtClean="0"/>
                        <a:t> String</a:t>
                      </a:r>
                    </a:p>
                  </a:txBody>
                  <a:tcPr/>
                </a:tc>
                <a:extLst>
                  <a:ext uri="{0D108BD9-81ED-4DB2-BD59-A6C34878D82A}">
                    <a16:rowId xmlns:a16="http://schemas.microsoft.com/office/drawing/2014/main" val="1284024177"/>
                  </a:ext>
                </a:extLst>
              </a:tr>
              <a:tr h="184673">
                <a:tc>
                  <a:txBody>
                    <a:bodyPr/>
                    <a:lstStyle/>
                    <a:p>
                      <a:r>
                        <a:rPr lang="en-US" sz="1600" dirty="0" smtClean="0"/>
                        <a:t>Brain()</a:t>
                      </a:r>
                    </a:p>
                  </a:txBody>
                  <a:tcPr/>
                </a:tc>
                <a:extLst>
                  <a:ext uri="{0D108BD9-81ED-4DB2-BD59-A6C34878D82A}">
                    <a16:rowId xmlns:a16="http://schemas.microsoft.com/office/drawing/2014/main" val="1143918339"/>
                  </a:ext>
                </a:extLst>
              </a:tr>
            </a:tbl>
          </a:graphicData>
        </a:graphic>
      </p:graphicFrame>
      <p:cxnSp>
        <p:nvCxnSpPr>
          <p:cNvPr id="18" name="Straight Arrow Connector 17"/>
          <p:cNvCxnSpPr>
            <a:stCxn id="10" idx="2"/>
            <a:endCxn id="9" idx="0"/>
          </p:cNvCxnSpPr>
          <p:nvPr/>
        </p:nvCxnSpPr>
        <p:spPr>
          <a:xfrm>
            <a:off x="6060237" y="2324364"/>
            <a:ext cx="0" cy="346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2191764" y="2837014"/>
            <a:ext cx="2165083" cy="338554"/>
          </a:xfrm>
          <a:prstGeom prst="rect">
            <a:avLst/>
          </a:prstGeom>
          <a:noFill/>
        </p:spPr>
        <p:txBody>
          <a:bodyPr wrap="square" rtlCol="0">
            <a:spAutoFit/>
          </a:bodyPr>
          <a:lstStyle/>
          <a:p>
            <a:r>
              <a:rPr lang="en-US" sz="1600" dirty="0" smtClean="0"/>
              <a:t>If String is Query</a:t>
            </a:r>
            <a:endParaRPr lang="en-IN" sz="1600" dirty="0"/>
          </a:p>
        </p:txBody>
      </p:sp>
      <p:sp>
        <p:nvSpPr>
          <p:cNvPr id="22" name="TextBox 21"/>
          <p:cNvSpPr txBox="1"/>
          <p:nvPr/>
        </p:nvSpPr>
        <p:spPr>
          <a:xfrm>
            <a:off x="8278009" y="2848108"/>
            <a:ext cx="1650701" cy="338554"/>
          </a:xfrm>
          <a:prstGeom prst="rect">
            <a:avLst/>
          </a:prstGeom>
          <a:noFill/>
        </p:spPr>
        <p:txBody>
          <a:bodyPr wrap="square" rtlCol="0">
            <a:spAutoFit/>
          </a:bodyPr>
          <a:lstStyle/>
          <a:p>
            <a:r>
              <a:rPr lang="en-US" sz="1600" dirty="0" smtClean="0"/>
              <a:t>If String is Task</a:t>
            </a:r>
            <a:endParaRPr lang="en-IN" sz="1600" dirty="0"/>
          </a:p>
        </p:txBody>
      </p:sp>
      <p:cxnSp>
        <p:nvCxnSpPr>
          <p:cNvPr id="26" name="Elbow Connector 25"/>
          <p:cNvCxnSpPr/>
          <p:nvPr/>
        </p:nvCxnSpPr>
        <p:spPr>
          <a:xfrm>
            <a:off x="3679115" y="3379695"/>
            <a:ext cx="912703" cy="29720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8" name="Elbow Connector 27"/>
          <p:cNvCxnSpPr/>
          <p:nvPr/>
        </p:nvCxnSpPr>
        <p:spPr>
          <a:xfrm rot="10800000" flipV="1">
            <a:off x="7528656" y="3359839"/>
            <a:ext cx="957932" cy="30147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9" name="Left Arrow 18">
            <a:hlinkClick r:id="rId2" action="ppaction://hlinksldjump"/>
          </p:cNvPr>
          <p:cNvSpPr/>
          <p:nvPr/>
        </p:nvSpPr>
        <p:spPr>
          <a:xfrm>
            <a:off x="9660367" y="6357768"/>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
        <p:nvSpPr>
          <p:cNvPr id="4" name="TextBox 3"/>
          <p:cNvSpPr txBox="1"/>
          <p:nvPr/>
        </p:nvSpPr>
        <p:spPr>
          <a:xfrm>
            <a:off x="6580285" y="2336102"/>
            <a:ext cx="3080081" cy="338554"/>
          </a:xfrm>
          <a:prstGeom prst="rect">
            <a:avLst/>
          </a:prstGeom>
          <a:noFill/>
        </p:spPr>
        <p:txBody>
          <a:bodyPr wrap="square" rtlCol="0">
            <a:spAutoFit/>
          </a:bodyPr>
          <a:lstStyle/>
          <a:p>
            <a:r>
              <a:rPr lang="en-US" sz="1600" dirty="0" smtClean="0"/>
              <a:t>Command trends to AI Brain</a:t>
            </a:r>
            <a:endParaRPr lang="en-IN" sz="1600" dirty="0"/>
          </a:p>
        </p:txBody>
      </p:sp>
    </p:spTree>
    <p:extLst>
      <p:ext uri="{BB962C8B-B14F-4D97-AF65-F5344CB8AC3E}">
        <p14:creationId xmlns:p14="http://schemas.microsoft.com/office/powerpoint/2010/main" val="37188675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18335"/>
            <a:ext cx="9905998" cy="516366"/>
          </a:xfrm>
        </p:spPr>
        <p:txBody>
          <a:bodyPr>
            <a:noAutofit/>
          </a:bodyPr>
          <a:lstStyle/>
          <a:p>
            <a:pPr algn="ctr"/>
            <a:r>
              <a:rPr lang="en-US" b="1" u="sng" dirty="0">
                <a:effectLst>
                  <a:outerShdw blurRad="38100" dist="38100" dir="2700000" algn="tl">
                    <a:srgbClr val="000000">
                      <a:alpha val="43137"/>
                    </a:srgbClr>
                  </a:outerShdw>
                </a:effectLst>
              </a:rPr>
              <a:t>Activity </a:t>
            </a:r>
            <a:r>
              <a:rPr lang="en-US" b="1" u="sng" dirty="0" smtClean="0">
                <a:effectLst>
                  <a:outerShdw blurRad="38100" dist="38100" dir="2700000" algn="tl">
                    <a:srgbClr val="000000">
                      <a:alpha val="43137"/>
                    </a:srgbClr>
                  </a:outerShdw>
                </a:effectLst>
              </a:rPr>
              <a:t>Diagram</a:t>
            </a:r>
            <a:endParaRPr lang="en-IN" dirty="0">
              <a:effectLst>
                <a:outerShdw blurRad="38100" dist="38100" dir="2700000" algn="tl">
                  <a:srgbClr val="000000">
                    <a:alpha val="43137"/>
                  </a:srgbClr>
                </a:outerShdw>
              </a:effectLst>
            </a:endParaRPr>
          </a:p>
        </p:txBody>
      </p:sp>
      <p:sp>
        <p:nvSpPr>
          <p:cNvPr id="29" name="TextBox 28"/>
          <p:cNvSpPr txBox="1"/>
          <p:nvPr/>
        </p:nvSpPr>
        <p:spPr>
          <a:xfrm>
            <a:off x="679620" y="727618"/>
            <a:ext cx="184731" cy="369332"/>
          </a:xfrm>
          <a:prstGeom prst="rect">
            <a:avLst/>
          </a:prstGeom>
          <a:noFill/>
        </p:spPr>
        <p:txBody>
          <a:bodyPr wrap="none" rtlCol="0">
            <a:spAutoFit/>
          </a:bodyPr>
          <a:lstStyle/>
          <a:p>
            <a:endParaRPr lang="en-IN" dirty="0"/>
          </a:p>
        </p:txBody>
      </p:sp>
      <p:grpSp>
        <p:nvGrpSpPr>
          <p:cNvPr id="32" name="Group 31"/>
          <p:cNvGrpSpPr/>
          <p:nvPr/>
        </p:nvGrpSpPr>
        <p:grpSpPr>
          <a:xfrm>
            <a:off x="2393502" y="1232633"/>
            <a:ext cx="6906560" cy="5286435"/>
            <a:chOff x="2006226" y="1404755"/>
            <a:chExt cx="6906560" cy="5286435"/>
          </a:xfrm>
        </p:grpSpPr>
        <p:grpSp>
          <p:nvGrpSpPr>
            <p:cNvPr id="8" name="Group 7"/>
            <p:cNvGrpSpPr/>
            <p:nvPr/>
          </p:nvGrpSpPr>
          <p:grpSpPr>
            <a:xfrm>
              <a:off x="2006226" y="1404755"/>
              <a:ext cx="6906560" cy="4327832"/>
              <a:chOff x="1828927" y="1535086"/>
              <a:chExt cx="6906560" cy="4933519"/>
            </a:xfrm>
          </p:grpSpPr>
          <p:cxnSp>
            <p:nvCxnSpPr>
              <p:cNvPr id="17" name="Straight Arrow Connector 16"/>
              <p:cNvCxnSpPr/>
              <p:nvPr/>
            </p:nvCxnSpPr>
            <p:spPr>
              <a:xfrm>
                <a:off x="5249934" y="4905489"/>
                <a:ext cx="1" cy="65621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a:off x="5260692" y="3636085"/>
                <a:ext cx="0" cy="36576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 name="Group 6"/>
              <p:cNvGrpSpPr/>
              <p:nvPr/>
            </p:nvGrpSpPr>
            <p:grpSpPr>
              <a:xfrm>
                <a:off x="1828927" y="1535086"/>
                <a:ext cx="6906560" cy="4933519"/>
                <a:chOff x="1866649" y="1549101"/>
                <a:chExt cx="6906560" cy="4933519"/>
              </a:xfrm>
            </p:grpSpPr>
            <p:sp>
              <p:nvSpPr>
                <p:cNvPr id="4" name="Rounded Rectangle 3"/>
                <p:cNvSpPr/>
                <p:nvPr/>
              </p:nvSpPr>
              <p:spPr>
                <a:xfrm>
                  <a:off x="4470005" y="1549101"/>
                  <a:ext cx="1624406" cy="720763"/>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Command / Task </a:t>
                  </a:r>
                  <a:endParaRPr lang="en-IN" dirty="0"/>
                </a:p>
              </p:txBody>
            </p:sp>
            <p:sp>
              <p:nvSpPr>
                <p:cNvPr id="5" name="Rounded Rectangle 4"/>
                <p:cNvSpPr/>
                <p:nvPr/>
              </p:nvSpPr>
              <p:spPr>
                <a:xfrm>
                  <a:off x="4470005" y="2721685"/>
                  <a:ext cx="1624406" cy="91440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Wait for incoming query</a:t>
                  </a:r>
                  <a:endParaRPr lang="en-IN" dirty="0"/>
                </a:p>
              </p:txBody>
            </p:sp>
            <p:sp>
              <p:nvSpPr>
                <p:cNvPr id="6" name="Diamond 5"/>
                <p:cNvSpPr/>
                <p:nvPr/>
              </p:nvSpPr>
              <p:spPr>
                <a:xfrm>
                  <a:off x="4470004" y="4001846"/>
                  <a:ext cx="1624407" cy="903642"/>
                </a:xfrm>
                <a:prstGeom prst="diamond">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Check type</a:t>
                  </a:r>
                  <a:endParaRPr lang="en-IN" dirty="0"/>
                </a:p>
              </p:txBody>
            </p:sp>
            <p:cxnSp>
              <p:nvCxnSpPr>
                <p:cNvPr id="9" name="Elbow Connector 8"/>
                <p:cNvCxnSpPr>
                  <a:stCxn id="6" idx="1"/>
                </p:cNvCxnSpPr>
                <p:nvPr/>
              </p:nvCxnSpPr>
              <p:spPr>
                <a:xfrm rot="10800000" flipV="1">
                  <a:off x="2678856" y="4453666"/>
                  <a:ext cx="1791148" cy="1108037"/>
                </a:xfrm>
                <a:prstGeom prst="bentConnector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Elbow Connector 9"/>
                <p:cNvCxnSpPr>
                  <a:stCxn id="6" idx="3"/>
                </p:cNvCxnSpPr>
                <p:nvPr/>
              </p:nvCxnSpPr>
              <p:spPr>
                <a:xfrm>
                  <a:off x="6094411" y="4453667"/>
                  <a:ext cx="1812459" cy="1108037"/>
                </a:xfrm>
                <a:prstGeom prst="bentConnector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Elbow Connector 11"/>
                <p:cNvCxnSpPr>
                  <a:stCxn id="26" idx="3"/>
                </p:cNvCxnSpPr>
                <p:nvPr/>
              </p:nvCxnSpPr>
              <p:spPr>
                <a:xfrm flipH="1" flipV="1">
                  <a:off x="6094411" y="3178886"/>
                  <a:ext cx="2678798" cy="2846534"/>
                </a:xfrm>
                <a:prstGeom prst="bentConnector3">
                  <a:avLst>
                    <a:gd name="adj1" fmla="val -8534"/>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Elbow Connector 12"/>
                <p:cNvCxnSpPr>
                  <a:stCxn id="24" idx="1"/>
                </p:cNvCxnSpPr>
                <p:nvPr/>
              </p:nvCxnSpPr>
              <p:spPr>
                <a:xfrm rot="10800000" flipH="1">
                  <a:off x="1866649" y="3178886"/>
                  <a:ext cx="2603353" cy="2834639"/>
                </a:xfrm>
                <a:prstGeom prst="bentConnector3">
                  <a:avLst>
                    <a:gd name="adj1" fmla="val -878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p:cNvCxnSpPr/>
                <p:nvPr/>
              </p:nvCxnSpPr>
              <p:spPr>
                <a:xfrm>
                  <a:off x="5282208" y="2269864"/>
                  <a:ext cx="0" cy="45182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TextBox 14"/>
                <p:cNvSpPr txBox="1"/>
                <p:nvPr/>
              </p:nvSpPr>
              <p:spPr>
                <a:xfrm>
                  <a:off x="2751697" y="4100471"/>
                  <a:ext cx="1306768" cy="369332"/>
                </a:xfrm>
                <a:prstGeom prst="rect">
                  <a:avLst/>
                </a:prstGeom>
                <a:noFill/>
              </p:spPr>
              <p:txBody>
                <a:bodyPr wrap="none" rtlCol="0">
                  <a:spAutoFit/>
                </a:bodyPr>
                <a:lstStyle/>
                <a:p>
                  <a:r>
                    <a:rPr lang="en-US" dirty="0" smtClean="0"/>
                    <a:t>If command</a:t>
                  </a:r>
                  <a:endParaRPr lang="en-IN" dirty="0"/>
                </a:p>
              </p:txBody>
            </p:sp>
            <p:sp>
              <p:nvSpPr>
                <p:cNvPr id="16" name="TextBox 15"/>
                <p:cNvSpPr txBox="1"/>
                <p:nvPr/>
              </p:nvSpPr>
              <p:spPr>
                <a:xfrm>
                  <a:off x="6486862" y="4084335"/>
                  <a:ext cx="1178528" cy="369332"/>
                </a:xfrm>
                <a:prstGeom prst="rect">
                  <a:avLst/>
                </a:prstGeom>
                <a:noFill/>
              </p:spPr>
              <p:txBody>
                <a:bodyPr wrap="none" rtlCol="0">
                  <a:spAutoFit/>
                </a:bodyPr>
                <a:lstStyle/>
                <a:p>
                  <a:r>
                    <a:rPr lang="en-US" dirty="0" smtClean="0"/>
                    <a:t>If question</a:t>
                  </a:r>
                  <a:endParaRPr lang="en-IN" dirty="0"/>
                </a:p>
              </p:txBody>
            </p:sp>
            <p:sp>
              <p:nvSpPr>
                <p:cNvPr id="24" name="Rounded Rectangle 23"/>
                <p:cNvSpPr/>
                <p:nvPr/>
              </p:nvSpPr>
              <p:spPr>
                <a:xfrm>
                  <a:off x="1866650" y="5556324"/>
                  <a:ext cx="1624406" cy="91440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Execute Command</a:t>
                  </a:r>
                  <a:endParaRPr lang="en-IN" dirty="0"/>
                </a:p>
              </p:txBody>
            </p:sp>
            <p:sp>
              <p:nvSpPr>
                <p:cNvPr id="25" name="Rounded Rectangle 24"/>
                <p:cNvSpPr/>
                <p:nvPr/>
              </p:nvSpPr>
              <p:spPr>
                <a:xfrm>
                  <a:off x="4469659" y="5561707"/>
                  <a:ext cx="1624406" cy="91440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Good Bye</a:t>
                  </a:r>
                  <a:endParaRPr lang="en-IN" dirty="0"/>
                </a:p>
              </p:txBody>
            </p:sp>
            <p:sp>
              <p:nvSpPr>
                <p:cNvPr id="26" name="Rounded Rectangle 25"/>
                <p:cNvSpPr/>
                <p:nvPr/>
              </p:nvSpPr>
              <p:spPr>
                <a:xfrm>
                  <a:off x="7148803" y="5568220"/>
                  <a:ext cx="1624406" cy="91440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Execute Query</a:t>
                  </a:r>
                  <a:endParaRPr lang="en-IN" dirty="0"/>
                </a:p>
              </p:txBody>
            </p:sp>
          </p:grpSp>
          <p:sp>
            <p:nvSpPr>
              <p:cNvPr id="31" name="TextBox 30"/>
              <p:cNvSpPr txBox="1"/>
              <p:nvPr/>
            </p:nvSpPr>
            <p:spPr>
              <a:xfrm>
                <a:off x="5228072" y="4998735"/>
                <a:ext cx="806631" cy="369332"/>
              </a:xfrm>
              <a:prstGeom prst="rect">
                <a:avLst/>
              </a:prstGeom>
              <a:noFill/>
            </p:spPr>
            <p:txBody>
              <a:bodyPr wrap="none" rtlCol="0">
                <a:spAutoFit/>
              </a:bodyPr>
              <a:lstStyle/>
              <a:p>
                <a:r>
                  <a:rPr lang="en-US" dirty="0" smtClean="0"/>
                  <a:t>If Quit</a:t>
                </a:r>
                <a:endParaRPr lang="en-IN" dirty="0"/>
              </a:p>
            </p:txBody>
          </p:sp>
        </p:grpSp>
        <p:sp>
          <p:nvSpPr>
            <p:cNvPr id="11" name="Oval 10"/>
            <p:cNvSpPr/>
            <p:nvPr/>
          </p:nvSpPr>
          <p:spPr>
            <a:xfrm>
              <a:off x="2714497" y="1432123"/>
              <a:ext cx="570155" cy="55939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cxnSp>
          <p:nvCxnSpPr>
            <p:cNvPr id="20" name="Straight Arrow Connector 19"/>
            <p:cNvCxnSpPr/>
            <p:nvPr/>
          </p:nvCxnSpPr>
          <p:spPr>
            <a:xfrm>
              <a:off x="3252378" y="1711822"/>
              <a:ext cx="1362747" cy="107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3" name="Group 22"/>
            <p:cNvGrpSpPr/>
            <p:nvPr/>
          </p:nvGrpSpPr>
          <p:grpSpPr>
            <a:xfrm>
              <a:off x="5082571" y="6083383"/>
              <a:ext cx="656217" cy="607807"/>
              <a:chOff x="7637928" y="6229645"/>
              <a:chExt cx="656217" cy="607807"/>
            </a:xfrm>
          </p:grpSpPr>
          <p:sp>
            <p:nvSpPr>
              <p:cNvPr id="21" name="Oval 20"/>
              <p:cNvSpPr/>
              <p:nvPr/>
            </p:nvSpPr>
            <p:spPr>
              <a:xfrm>
                <a:off x="7637928" y="6229645"/>
                <a:ext cx="656217" cy="60780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22" name="Oval 21"/>
              <p:cNvSpPr/>
              <p:nvPr/>
            </p:nvSpPr>
            <p:spPr>
              <a:xfrm>
                <a:off x="7725966" y="6309712"/>
                <a:ext cx="462579" cy="4476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grpSp>
        <p:cxnSp>
          <p:nvCxnSpPr>
            <p:cNvPr id="30" name="Straight Arrow Connector 29"/>
            <p:cNvCxnSpPr/>
            <p:nvPr/>
          </p:nvCxnSpPr>
          <p:spPr>
            <a:xfrm>
              <a:off x="5415782" y="5719181"/>
              <a:ext cx="345" cy="3520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6" name="Left Arrow 35">
            <a:hlinkClick r:id="rId2" action="ppaction://hlinksldjump"/>
          </p:cNvPr>
          <p:cNvSpPr/>
          <p:nvPr/>
        </p:nvSpPr>
        <p:spPr>
          <a:xfrm>
            <a:off x="9552098" y="6386497"/>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34873736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196723" y="5616"/>
            <a:ext cx="9905998" cy="625513"/>
          </a:xfrm>
        </p:spPr>
        <p:txBody>
          <a:bodyPr>
            <a:normAutofit/>
          </a:bodyPr>
          <a:lstStyle/>
          <a:p>
            <a:pPr algn="ctr"/>
            <a:r>
              <a:rPr lang="en-US" b="1" u="sng" dirty="0" smtClean="0">
                <a:effectLst>
                  <a:outerShdw blurRad="38100" dist="38100" dir="2700000" algn="tl">
                    <a:srgbClr val="000000">
                      <a:alpha val="43137"/>
                    </a:srgbClr>
                  </a:outerShdw>
                </a:effectLst>
              </a:rPr>
              <a:t>Sequence Diagram for Query </a:t>
            </a:r>
            <a:endParaRPr lang="en-IN" b="1" u="sng" dirty="0">
              <a:effectLst>
                <a:outerShdw blurRad="38100" dist="38100" dir="2700000" algn="tl">
                  <a:srgbClr val="000000">
                    <a:alpha val="43137"/>
                  </a:srgbClr>
                </a:outerShdw>
              </a:effectLst>
            </a:endParaRPr>
          </a:p>
        </p:txBody>
      </p:sp>
      <p:cxnSp>
        <p:nvCxnSpPr>
          <p:cNvPr id="32" name="Straight Arrow Connector 31"/>
          <p:cNvCxnSpPr>
            <a:stCxn id="20" idx="2"/>
          </p:cNvCxnSpPr>
          <p:nvPr/>
        </p:nvCxnSpPr>
        <p:spPr>
          <a:xfrm flipH="1" flipV="1">
            <a:off x="2607805" y="6169064"/>
            <a:ext cx="1545466" cy="5378"/>
          </a:xfrm>
          <a:prstGeom prst="straightConnector1">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2095982" y="752588"/>
            <a:ext cx="7907702" cy="5857539"/>
            <a:chOff x="3603812" y="1000461"/>
            <a:chExt cx="7939143" cy="5857539"/>
          </a:xfrm>
        </p:grpSpPr>
        <p:sp>
          <p:nvSpPr>
            <p:cNvPr id="4" name="Rectangle 3"/>
            <p:cNvSpPr/>
            <p:nvPr/>
          </p:nvSpPr>
          <p:spPr>
            <a:xfrm>
              <a:off x="3603812" y="1000461"/>
              <a:ext cx="914400" cy="914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User</a:t>
              </a:r>
              <a:endParaRPr lang="en-IN" dirty="0"/>
            </a:p>
          </p:txBody>
        </p:sp>
        <p:sp>
          <p:nvSpPr>
            <p:cNvPr id="5" name="Rectangle 4"/>
            <p:cNvSpPr/>
            <p:nvPr/>
          </p:nvSpPr>
          <p:spPr>
            <a:xfrm>
              <a:off x="5174428" y="1000461"/>
              <a:ext cx="1011220" cy="914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Speaker</a:t>
              </a:r>
              <a:endParaRPr lang="en-IN" dirty="0"/>
            </a:p>
          </p:txBody>
        </p:sp>
        <p:sp>
          <p:nvSpPr>
            <p:cNvPr id="6" name="Rectangle 5"/>
            <p:cNvSpPr/>
            <p:nvPr/>
          </p:nvSpPr>
          <p:spPr>
            <a:xfrm>
              <a:off x="6841864" y="1000461"/>
              <a:ext cx="1032734" cy="914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Listener</a:t>
              </a:r>
              <a:endParaRPr lang="en-IN" dirty="0"/>
            </a:p>
          </p:txBody>
        </p:sp>
        <p:sp>
          <p:nvSpPr>
            <p:cNvPr id="7" name="Rectangle 6"/>
            <p:cNvSpPr/>
            <p:nvPr/>
          </p:nvSpPr>
          <p:spPr>
            <a:xfrm>
              <a:off x="8530814" y="1000461"/>
              <a:ext cx="1301676" cy="914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Interpreter</a:t>
              </a:r>
              <a:endParaRPr lang="en-IN" dirty="0"/>
            </a:p>
          </p:txBody>
        </p:sp>
        <p:sp>
          <p:nvSpPr>
            <p:cNvPr id="8" name="Rectangle 7"/>
            <p:cNvSpPr/>
            <p:nvPr/>
          </p:nvSpPr>
          <p:spPr>
            <a:xfrm>
              <a:off x="10348856" y="1000461"/>
              <a:ext cx="1194099" cy="914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smtClean="0"/>
                <a:t>Web Scraper</a:t>
              </a:r>
              <a:endParaRPr lang="en-IN" dirty="0"/>
            </a:p>
          </p:txBody>
        </p:sp>
        <p:cxnSp>
          <p:nvCxnSpPr>
            <p:cNvPr id="10" name="Straight Arrow Connector 9"/>
            <p:cNvCxnSpPr>
              <a:stCxn id="4" idx="2"/>
            </p:cNvCxnSpPr>
            <p:nvPr/>
          </p:nvCxnSpPr>
          <p:spPr>
            <a:xfrm>
              <a:off x="4061013" y="1914861"/>
              <a:ext cx="29715" cy="4943139"/>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Arrow Connector 11"/>
            <p:cNvCxnSpPr>
              <a:stCxn id="5" idx="2"/>
            </p:cNvCxnSpPr>
            <p:nvPr/>
          </p:nvCxnSpPr>
          <p:spPr>
            <a:xfrm flipH="1">
              <a:off x="5669281" y="1914861"/>
              <a:ext cx="10758" cy="494313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Arrow Connector 13"/>
            <p:cNvCxnSpPr>
              <a:stCxn id="6" idx="2"/>
            </p:cNvCxnSpPr>
            <p:nvPr/>
          </p:nvCxnSpPr>
          <p:spPr>
            <a:xfrm>
              <a:off x="7358231" y="1914861"/>
              <a:ext cx="0" cy="494313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Arrow Connector 14"/>
            <p:cNvCxnSpPr/>
            <p:nvPr/>
          </p:nvCxnSpPr>
          <p:spPr>
            <a:xfrm>
              <a:off x="9111727" y="1914861"/>
              <a:ext cx="0" cy="494313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p:nvPr/>
          </p:nvCxnSpPr>
          <p:spPr>
            <a:xfrm>
              <a:off x="10958456" y="1914861"/>
              <a:ext cx="0" cy="494313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Rectangle 16"/>
            <p:cNvSpPr/>
            <p:nvPr/>
          </p:nvSpPr>
          <p:spPr>
            <a:xfrm>
              <a:off x="7261412" y="2581835"/>
              <a:ext cx="193637" cy="6669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8" name="Rectangle 17"/>
            <p:cNvSpPr/>
            <p:nvPr/>
          </p:nvSpPr>
          <p:spPr>
            <a:xfrm>
              <a:off x="9004150" y="3248809"/>
              <a:ext cx="215153" cy="9897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9" name="Rectangle 18"/>
            <p:cNvSpPr/>
            <p:nvPr/>
          </p:nvSpPr>
          <p:spPr>
            <a:xfrm>
              <a:off x="10822191" y="4238512"/>
              <a:ext cx="301214" cy="14200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20" name="Rectangle 19"/>
            <p:cNvSpPr/>
            <p:nvPr/>
          </p:nvSpPr>
          <p:spPr>
            <a:xfrm>
              <a:off x="5524053" y="5615492"/>
              <a:ext cx="290455" cy="806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cxnSp>
          <p:nvCxnSpPr>
            <p:cNvPr id="22" name="Straight Arrow Connector 21"/>
            <p:cNvCxnSpPr>
              <a:endCxn id="17" idx="0"/>
            </p:cNvCxnSpPr>
            <p:nvPr/>
          </p:nvCxnSpPr>
          <p:spPr>
            <a:xfrm>
              <a:off x="4061012" y="2581835"/>
              <a:ext cx="32972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7" idx="2"/>
              <a:endCxn id="18" idx="0"/>
            </p:cNvCxnSpPr>
            <p:nvPr/>
          </p:nvCxnSpPr>
          <p:spPr>
            <a:xfrm>
              <a:off x="7358231" y="3248809"/>
              <a:ext cx="17534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8" idx="2"/>
              <a:endCxn id="19" idx="0"/>
            </p:cNvCxnSpPr>
            <p:nvPr/>
          </p:nvCxnSpPr>
          <p:spPr>
            <a:xfrm>
              <a:off x="9111727" y="4238512"/>
              <a:ext cx="186107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9" idx="2"/>
              <a:endCxn id="20" idx="0"/>
            </p:cNvCxnSpPr>
            <p:nvPr/>
          </p:nvCxnSpPr>
          <p:spPr>
            <a:xfrm flipH="1" flipV="1">
              <a:off x="5669281" y="5615492"/>
              <a:ext cx="5303517" cy="43030"/>
            </a:xfrm>
            <a:prstGeom prst="straightConnector1">
              <a:avLst/>
            </a:prstGeom>
            <a:ln w="9525" cap="flat" cmpd="sng" algn="ctr">
              <a:solidFill>
                <a:schemeClr val="dk1"/>
              </a:solidFill>
              <a:prstDash val="sysDash"/>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33" name="TextBox 32"/>
            <p:cNvSpPr txBox="1"/>
            <p:nvPr/>
          </p:nvSpPr>
          <p:spPr>
            <a:xfrm>
              <a:off x="4096106" y="2212503"/>
              <a:ext cx="2757120" cy="369332"/>
            </a:xfrm>
            <a:prstGeom prst="rect">
              <a:avLst/>
            </a:prstGeom>
            <a:noFill/>
          </p:spPr>
          <p:txBody>
            <a:bodyPr wrap="none" rtlCol="0">
              <a:spAutoFit/>
            </a:bodyPr>
            <a:lstStyle/>
            <a:p>
              <a:r>
                <a:rPr lang="en-US" dirty="0" smtClean="0"/>
                <a:t>1.Sends Query(Audio/Text)</a:t>
              </a:r>
              <a:endParaRPr lang="en-IN" dirty="0"/>
            </a:p>
          </p:txBody>
        </p:sp>
        <p:sp>
          <p:nvSpPr>
            <p:cNvPr id="34" name="TextBox 33"/>
            <p:cNvSpPr txBox="1"/>
            <p:nvPr/>
          </p:nvSpPr>
          <p:spPr>
            <a:xfrm>
              <a:off x="7488193" y="2879477"/>
              <a:ext cx="1255472" cy="369332"/>
            </a:xfrm>
            <a:prstGeom prst="rect">
              <a:avLst/>
            </a:prstGeom>
            <a:noFill/>
          </p:spPr>
          <p:txBody>
            <a:bodyPr wrap="none" rtlCol="0">
              <a:spAutoFit/>
            </a:bodyPr>
            <a:lstStyle/>
            <a:p>
              <a:r>
                <a:rPr lang="en-US" dirty="0" smtClean="0"/>
                <a:t>2.Passes to </a:t>
              </a:r>
              <a:endParaRPr lang="en-IN" dirty="0"/>
            </a:p>
          </p:txBody>
        </p:sp>
        <p:sp>
          <p:nvSpPr>
            <p:cNvPr id="35" name="TextBox 34"/>
            <p:cNvSpPr txBox="1"/>
            <p:nvPr/>
          </p:nvSpPr>
          <p:spPr>
            <a:xfrm>
              <a:off x="9295057" y="3869180"/>
              <a:ext cx="1495859" cy="369332"/>
            </a:xfrm>
            <a:prstGeom prst="rect">
              <a:avLst/>
            </a:prstGeom>
            <a:noFill/>
          </p:spPr>
          <p:txBody>
            <a:bodyPr wrap="none" rtlCol="0">
              <a:spAutoFit/>
            </a:bodyPr>
            <a:lstStyle/>
            <a:p>
              <a:r>
                <a:rPr lang="en-US" dirty="0" smtClean="0"/>
                <a:t>3.Query(</a:t>
              </a:r>
              <a:r>
                <a:rPr lang="en-IN" dirty="0" smtClean="0"/>
                <a:t>Text)</a:t>
              </a:r>
              <a:endParaRPr lang="en-US" dirty="0" smtClean="0"/>
            </a:p>
          </p:txBody>
        </p:sp>
        <p:sp>
          <p:nvSpPr>
            <p:cNvPr id="36" name="TextBox 35"/>
            <p:cNvSpPr txBox="1"/>
            <p:nvPr/>
          </p:nvSpPr>
          <p:spPr>
            <a:xfrm>
              <a:off x="6658984" y="5658522"/>
              <a:ext cx="1986506" cy="369332"/>
            </a:xfrm>
            <a:prstGeom prst="rect">
              <a:avLst/>
            </a:prstGeom>
            <a:noFill/>
          </p:spPr>
          <p:txBody>
            <a:bodyPr wrap="none" rtlCol="0">
              <a:spAutoFit/>
            </a:bodyPr>
            <a:lstStyle/>
            <a:p>
              <a:r>
                <a:rPr lang="en-US" dirty="0" smtClean="0"/>
                <a:t>4. Fetching Answer</a:t>
              </a:r>
              <a:endParaRPr lang="en-IN" dirty="0"/>
            </a:p>
          </p:txBody>
        </p:sp>
        <p:sp>
          <p:nvSpPr>
            <p:cNvPr id="37" name="TextBox 36"/>
            <p:cNvSpPr txBox="1"/>
            <p:nvPr/>
          </p:nvSpPr>
          <p:spPr>
            <a:xfrm>
              <a:off x="4179262" y="6085256"/>
              <a:ext cx="2390246" cy="646331"/>
            </a:xfrm>
            <a:prstGeom prst="rect">
              <a:avLst/>
            </a:prstGeom>
            <a:noFill/>
          </p:spPr>
          <p:txBody>
            <a:bodyPr wrap="none" rtlCol="0">
              <a:spAutoFit/>
            </a:bodyPr>
            <a:lstStyle/>
            <a:p>
              <a:r>
                <a:rPr lang="en-US" dirty="0" smtClean="0"/>
                <a:t>5. Recieves </a:t>
              </a:r>
            </a:p>
            <a:p>
              <a:r>
                <a:rPr lang="en-US" dirty="0" smtClean="0"/>
                <a:t>     Answer(Audio/Text)</a:t>
              </a:r>
              <a:endParaRPr lang="en-IN" dirty="0"/>
            </a:p>
          </p:txBody>
        </p:sp>
      </p:grpSp>
      <p:sp>
        <p:nvSpPr>
          <p:cNvPr id="25" name="Multiply 24"/>
          <p:cNvSpPr/>
          <p:nvPr/>
        </p:nvSpPr>
        <p:spPr>
          <a:xfrm>
            <a:off x="7421640" y="6552294"/>
            <a:ext cx="311972" cy="199016"/>
          </a:xfrm>
          <a:prstGeom prst="mathMultiply">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Multiply 38"/>
          <p:cNvSpPr/>
          <p:nvPr/>
        </p:nvSpPr>
        <p:spPr>
          <a:xfrm>
            <a:off x="9265381" y="6548265"/>
            <a:ext cx="311972" cy="199016"/>
          </a:xfrm>
          <a:prstGeom prst="mathMultiply">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Multiply 39"/>
          <p:cNvSpPr/>
          <p:nvPr/>
        </p:nvSpPr>
        <p:spPr>
          <a:xfrm>
            <a:off x="2430795" y="6548688"/>
            <a:ext cx="311972" cy="199016"/>
          </a:xfrm>
          <a:prstGeom prst="mathMultiply">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 name="Multiply 40"/>
          <p:cNvSpPr/>
          <p:nvPr/>
        </p:nvSpPr>
        <p:spPr>
          <a:xfrm>
            <a:off x="5679546" y="6548265"/>
            <a:ext cx="311972" cy="199016"/>
          </a:xfrm>
          <a:prstGeom prst="mathMultiply">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2" name="Multiply 41"/>
          <p:cNvSpPr/>
          <p:nvPr/>
        </p:nvSpPr>
        <p:spPr>
          <a:xfrm>
            <a:off x="3997682" y="6548265"/>
            <a:ext cx="311972" cy="199016"/>
          </a:xfrm>
          <a:prstGeom prst="mathMultiply">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3" name="Left Arrow 42">
            <a:hlinkClick r:id="rId2" action="ppaction://hlinksldjump"/>
          </p:cNvPr>
          <p:cNvSpPr/>
          <p:nvPr/>
        </p:nvSpPr>
        <p:spPr>
          <a:xfrm>
            <a:off x="10184672" y="6254212"/>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7423368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39096"/>
          </a:xfrm>
        </p:spPr>
        <p:txBody>
          <a:bodyPr>
            <a:normAutofit/>
          </a:bodyPr>
          <a:lstStyle/>
          <a:p>
            <a:pPr algn="ctr"/>
            <a:r>
              <a:rPr lang="en-US" sz="3600" b="1" u="sng" dirty="0" smtClean="0">
                <a:effectLst>
                  <a:outerShdw blurRad="38100" dist="38100" dir="2700000" algn="tl">
                    <a:srgbClr val="000000">
                      <a:alpha val="43137"/>
                    </a:srgbClr>
                  </a:outerShdw>
                </a:effectLst>
              </a:rPr>
              <a:t>Sequence Diagram for Task</a:t>
            </a:r>
            <a:endParaRPr lang="en-IN" sz="3600" b="1" u="sng"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50945" y="969328"/>
            <a:ext cx="7090109" cy="5489911"/>
          </a:xfrm>
        </p:spPr>
      </p:pic>
    </p:spTree>
    <p:extLst>
      <p:ext uri="{BB962C8B-B14F-4D97-AF65-F5344CB8AC3E}">
        <p14:creationId xmlns:p14="http://schemas.microsoft.com/office/powerpoint/2010/main" val="247344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48363"/>
            <a:ext cx="9905998" cy="736945"/>
          </a:xfrm>
        </p:spPr>
        <p:txBody>
          <a:bodyPr>
            <a:normAutofit/>
          </a:bodyPr>
          <a:lstStyle/>
          <a:p>
            <a:pPr algn="ctr"/>
            <a:r>
              <a:rPr lang="en-US" sz="3200" b="1" u="sng" dirty="0" smtClean="0">
                <a:effectLst>
                  <a:outerShdw blurRad="38100" dist="38100" dir="2700000" algn="tl">
                    <a:srgbClr val="000000">
                      <a:alpha val="43137"/>
                    </a:srgbClr>
                  </a:outerShdw>
                </a:effectLst>
              </a:rPr>
              <a:t>Data Dictionary</a:t>
            </a:r>
            <a:endParaRPr lang="en-IN" sz="3200" b="1" u="sng"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49818912"/>
              </p:ext>
            </p:extLst>
          </p:nvPr>
        </p:nvGraphicFramePr>
        <p:xfrm>
          <a:off x="1399802" y="2022976"/>
          <a:ext cx="9906001" cy="2215535"/>
        </p:xfrm>
        <a:graphic>
          <a:graphicData uri="http://schemas.openxmlformats.org/drawingml/2006/table">
            <a:tbl>
              <a:tblPr firstRow="1" bandRow="1">
                <a:tableStyleId>{93296810-A885-4BE3-A3E7-6D5BEEA58F35}</a:tableStyleId>
              </a:tblPr>
              <a:tblGrid>
                <a:gridCol w="1364598">
                  <a:extLst>
                    <a:ext uri="{9D8B030D-6E8A-4147-A177-3AD203B41FA5}">
                      <a16:colId xmlns:a16="http://schemas.microsoft.com/office/drawing/2014/main" val="2156630314"/>
                    </a:ext>
                  </a:extLst>
                </a:gridCol>
                <a:gridCol w="1441382">
                  <a:extLst>
                    <a:ext uri="{9D8B030D-6E8A-4147-A177-3AD203B41FA5}">
                      <a16:colId xmlns:a16="http://schemas.microsoft.com/office/drawing/2014/main" val="1424062138"/>
                    </a:ext>
                  </a:extLst>
                </a:gridCol>
                <a:gridCol w="1259313">
                  <a:extLst>
                    <a:ext uri="{9D8B030D-6E8A-4147-A177-3AD203B41FA5}">
                      <a16:colId xmlns:a16="http://schemas.microsoft.com/office/drawing/2014/main" val="3741461519"/>
                    </a:ext>
                  </a:extLst>
                </a:gridCol>
                <a:gridCol w="1785559">
                  <a:extLst>
                    <a:ext uri="{9D8B030D-6E8A-4147-A177-3AD203B41FA5}">
                      <a16:colId xmlns:a16="http://schemas.microsoft.com/office/drawing/2014/main" val="1830894153"/>
                    </a:ext>
                  </a:extLst>
                </a:gridCol>
                <a:gridCol w="4055149">
                  <a:extLst>
                    <a:ext uri="{9D8B030D-6E8A-4147-A177-3AD203B41FA5}">
                      <a16:colId xmlns:a16="http://schemas.microsoft.com/office/drawing/2014/main" val="1072806241"/>
                    </a:ext>
                  </a:extLst>
                </a:gridCol>
              </a:tblGrid>
              <a:tr h="443107">
                <a:tc>
                  <a:txBody>
                    <a:bodyPr/>
                    <a:lstStyle/>
                    <a:p>
                      <a:r>
                        <a:rPr lang="en-US" dirty="0" smtClean="0"/>
                        <a:t>Field Name</a:t>
                      </a:r>
                      <a:endParaRPr lang="en-IN" dirty="0"/>
                    </a:p>
                  </a:txBody>
                  <a:tcPr/>
                </a:tc>
                <a:tc>
                  <a:txBody>
                    <a:bodyPr/>
                    <a:lstStyle/>
                    <a:p>
                      <a:r>
                        <a:rPr lang="en-US" dirty="0" smtClean="0"/>
                        <a:t>Data Type </a:t>
                      </a:r>
                      <a:endParaRPr lang="en-IN" dirty="0"/>
                    </a:p>
                  </a:txBody>
                  <a:tcPr/>
                </a:tc>
                <a:tc>
                  <a:txBody>
                    <a:bodyPr/>
                    <a:lstStyle/>
                    <a:p>
                      <a:r>
                        <a:rPr lang="en-US" dirty="0" smtClean="0"/>
                        <a:t>Data Size</a:t>
                      </a:r>
                      <a:endParaRPr lang="en-IN" dirty="0"/>
                    </a:p>
                  </a:txBody>
                  <a:tcPr/>
                </a:tc>
                <a:tc>
                  <a:txBody>
                    <a:bodyPr/>
                    <a:lstStyle/>
                    <a:p>
                      <a:r>
                        <a:rPr lang="en-US" dirty="0" smtClean="0"/>
                        <a:t>Constraint</a:t>
                      </a:r>
                      <a:endParaRPr lang="en-IN" dirty="0"/>
                    </a:p>
                  </a:txBody>
                  <a:tcPr/>
                </a:tc>
                <a:tc>
                  <a:txBody>
                    <a:bodyPr/>
                    <a:lstStyle/>
                    <a:p>
                      <a:r>
                        <a:rPr lang="en-US" dirty="0" smtClean="0"/>
                        <a:t>Description</a:t>
                      </a:r>
                      <a:endParaRPr lang="en-IN" dirty="0"/>
                    </a:p>
                  </a:txBody>
                  <a:tcPr/>
                </a:tc>
                <a:extLst>
                  <a:ext uri="{0D108BD9-81ED-4DB2-BD59-A6C34878D82A}">
                    <a16:rowId xmlns:a16="http://schemas.microsoft.com/office/drawing/2014/main" val="268925302"/>
                  </a:ext>
                </a:extLst>
              </a:tr>
              <a:tr h="443107">
                <a:tc>
                  <a:txBody>
                    <a:bodyPr/>
                    <a:lstStyle/>
                    <a:p>
                      <a:r>
                        <a:rPr lang="en-US" dirty="0" smtClean="0"/>
                        <a:t>User Name</a:t>
                      </a:r>
                      <a:endParaRPr lang="en-IN" dirty="0"/>
                    </a:p>
                  </a:txBody>
                  <a:tcPr/>
                </a:tc>
                <a:tc>
                  <a:txBody>
                    <a:bodyPr/>
                    <a:lstStyle/>
                    <a:p>
                      <a:r>
                        <a:rPr lang="en-US" dirty="0" smtClean="0"/>
                        <a:t>Varchar</a:t>
                      </a:r>
                      <a:endParaRPr lang="en-IN" dirty="0"/>
                    </a:p>
                  </a:txBody>
                  <a:tcPr/>
                </a:tc>
                <a:tc>
                  <a:txBody>
                    <a:bodyPr/>
                    <a:lstStyle/>
                    <a:p>
                      <a:r>
                        <a:rPr lang="en-US" dirty="0" smtClean="0"/>
                        <a:t>15</a:t>
                      </a:r>
                      <a:endParaRPr lang="en-IN" dirty="0"/>
                    </a:p>
                  </a:txBody>
                  <a:tcPr/>
                </a:tc>
                <a:tc>
                  <a:txBody>
                    <a:bodyPr/>
                    <a:lstStyle/>
                    <a:p>
                      <a:r>
                        <a:rPr lang="en-US" dirty="0" smtClean="0"/>
                        <a:t>Primary Key</a:t>
                      </a:r>
                      <a:endParaRPr lang="en-IN" dirty="0"/>
                    </a:p>
                  </a:txBody>
                  <a:tcPr/>
                </a:tc>
                <a:tc>
                  <a:txBody>
                    <a:bodyPr/>
                    <a:lstStyle/>
                    <a:p>
                      <a:r>
                        <a:rPr lang="en-US" dirty="0" smtClean="0"/>
                        <a:t>Name of User.</a:t>
                      </a:r>
                      <a:endParaRPr lang="en-IN" dirty="0"/>
                    </a:p>
                  </a:txBody>
                  <a:tcPr/>
                </a:tc>
                <a:extLst>
                  <a:ext uri="{0D108BD9-81ED-4DB2-BD59-A6C34878D82A}">
                    <a16:rowId xmlns:a16="http://schemas.microsoft.com/office/drawing/2014/main" val="356072795"/>
                  </a:ext>
                </a:extLst>
              </a:tr>
              <a:tr h="443107">
                <a:tc>
                  <a:txBody>
                    <a:bodyPr/>
                    <a:lstStyle/>
                    <a:p>
                      <a:r>
                        <a:rPr lang="en-US" dirty="0" smtClean="0"/>
                        <a:t>Email Id </a:t>
                      </a:r>
                      <a:endParaRPr lang="en-IN" dirty="0"/>
                    </a:p>
                  </a:txBody>
                  <a:tcPr/>
                </a:tc>
                <a:tc>
                  <a:txBody>
                    <a:bodyPr/>
                    <a:lstStyle/>
                    <a:p>
                      <a:r>
                        <a:rPr lang="en-US" dirty="0" smtClean="0"/>
                        <a:t>Varchar</a:t>
                      </a:r>
                      <a:endParaRPr lang="en-IN" dirty="0"/>
                    </a:p>
                  </a:txBody>
                  <a:tcPr/>
                </a:tc>
                <a:tc>
                  <a:txBody>
                    <a:bodyPr/>
                    <a:lstStyle/>
                    <a:p>
                      <a:r>
                        <a:rPr lang="en-US" dirty="0" smtClean="0"/>
                        <a:t>30</a:t>
                      </a:r>
                      <a:endParaRPr lang="en-IN" dirty="0"/>
                    </a:p>
                  </a:txBody>
                  <a:tcPr/>
                </a:tc>
                <a:tc>
                  <a:txBody>
                    <a:bodyPr/>
                    <a:lstStyle/>
                    <a:p>
                      <a:r>
                        <a:rPr lang="en-IN" sz="1800" kern="1200" dirty="0" smtClean="0">
                          <a:solidFill>
                            <a:schemeClr val="dk1"/>
                          </a:solidFill>
                          <a:effectLst/>
                          <a:latin typeface="+mn-lt"/>
                          <a:ea typeface="+mn-ea"/>
                          <a:cs typeface="+mn-cs"/>
                        </a:rPr>
                        <a:t>Not Null</a:t>
                      </a:r>
                      <a:endParaRPr lang="en-IN" dirty="0"/>
                    </a:p>
                  </a:txBody>
                  <a:tcPr/>
                </a:tc>
                <a:tc>
                  <a:txBody>
                    <a:bodyPr/>
                    <a:lstStyle/>
                    <a:p>
                      <a:r>
                        <a:rPr lang="en-US" dirty="0" smtClean="0"/>
                        <a:t>Email Id of User.</a:t>
                      </a:r>
                      <a:endParaRPr lang="en-IN" dirty="0"/>
                    </a:p>
                  </a:txBody>
                  <a:tcPr/>
                </a:tc>
                <a:extLst>
                  <a:ext uri="{0D108BD9-81ED-4DB2-BD59-A6C34878D82A}">
                    <a16:rowId xmlns:a16="http://schemas.microsoft.com/office/drawing/2014/main" val="1936256686"/>
                  </a:ext>
                </a:extLst>
              </a:tr>
              <a:tr h="443107">
                <a:tc>
                  <a:txBody>
                    <a:bodyPr/>
                    <a:lstStyle/>
                    <a:p>
                      <a:r>
                        <a:rPr lang="en-US" dirty="0" smtClean="0"/>
                        <a:t>DOB</a:t>
                      </a:r>
                      <a:endParaRPr lang="en-IN" dirty="0"/>
                    </a:p>
                  </a:txBody>
                  <a:tcPr/>
                </a:tc>
                <a:tc>
                  <a:txBody>
                    <a:bodyPr/>
                    <a:lstStyle/>
                    <a:p>
                      <a:r>
                        <a:rPr lang="en-US" dirty="0" smtClean="0"/>
                        <a:t>Date</a:t>
                      </a:r>
                      <a:endParaRPr lang="en-IN" dirty="0"/>
                    </a:p>
                  </a:txBody>
                  <a:tcPr/>
                </a:tc>
                <a:tc>
                  <a:txBody>
                    <a:bodyPr/>
                    <a:lstStyle/>
                    <a:p>
                      <a:endParaRPr lang="en-IN" dirty="0"/>
                    </a:p>
                  </a:txBody>
                  <a:tcPr/>
                </a:tc>
                <a:tc>
                  <a:txBody>
                    <a:bodyPr/>
                    <a:lstStyle/>
                    <a:p>
                      <a:r>
                        <a:rPr lang="en-IN" sz="1800" kern="1200" dirty="0" smtClean="0">
                          <a:solidFill>
                            <a:schemeClr val="dk1"/>
                          </a:solidFill>
                          <a:effectLst/>
                          <a:latin typeface="+mn-lt"/>
                          <a:ea typeface="+mn-ea"/>
                          <a:cs typeface="+mn-cs"/>
                        </a:rPr>
                        <a:t>Not Null</a:t>
                      </a:r>
                      <a:endParaRPr lang="en-IN" dirty="0"/>
                    </a:p>
                  </a:txBody>
                  <a:tcPr/>
                </a:tc>
                <a:tc>
                  <a:txBody>
                    <a:bodyPr/>
                    <a:lstStyle/>
                    <a:p>
                      <a:r>
                        <a:rPr lang="en-US" dirty="0" smtClean="0"/>
                        <a:t>Date of birth</a:t>
                      </a:r>
                      <a:r>
                        <a:rPr lang="en-US" baseline="0" dirty="0" smtClean="0"/>
                        <a:t> </a:t>
                      </a:r>
                      <a:endParaRPr lang="en-IN" dirty="0"/>
                    </a:p>
                  </a:txBody>
                  <a:tcPr/>
                </a:tc>
                <a:extLst>
                  <a:ext uri="{0D108BD9-81ED-4DB2-BD59-A6C34878D82A}">
                    <a16:rowId xmlns:a16="http://schemas.microsoft.com/office/drawing/2014/main" val="4067226950"/>
                  </a:ext>
                </a:extLst>
              </a:tr>
              <a:tr h="443107">
                <a:tc>
                  <a:txBody>
                    <a:bodyPr/>
                    <a:lstStyle/>
                    <a:p>
                      <a:r>
                        <a:rPr lang="en-US" dirty="0" smtClean="0"/>
                        <a:t>Password</a:t>
                      </a:r>
                      <a:endParaRPr lang="en-IN" dirty="0"/>
                    </a:p>
                  </a:txBody>
                  <a:tcPr/>
                </a:tc>
                <a:tc>
                  <a:txBody>
                    <a:bodyPr/>
                    <a:lstStyle/>
                    <a:p>
                      <a:r>
                        <a:rPr lang="en-US" dirty="0" smtClean="0"/>
                        <a:t>Varchar</a:t>
                      </a:r>
                      <a:endParaRPr lang="en-IN" dirty="0"/>
                    </a:p>
                  </a:txBody>
                  <a:tcPr/>
                </a:tc>
                <a:tc>
                  <a:txBody>
                    <a:bodyPr/>
                    <a:lstStyle/>
                    <a:p>
                      <a:r>
                        <a:rPr lang="en-US" dirty="0" smtClean="0"/>
                        <a:t>12</a:t>
                      </a:r>
                      <a:endParaRPr lang="en-IN" dirty="0"/>
                    </a:p>
                  </a:txBody>
                  <a:tcPr/>
                </a:tc>
                <a:tc>
                  <a:txBody>
                    <a:bodyPr/>
                    <a:lstStyle/>
                    <a:p>
                      <a:r>
                        <a:rPr lang="en-IN" sz="1800" kern="1200" dirty="0" smtClean="0">
                          <a:solidFill>
                            <a:schemeClr val="dk1"/>
                          </a:solidFill>
                          <a:effectLst/>
                          <a:latin typeface="+mn-lt"/>
                          <a:ea typeface="+mn-ea"/>
                          <a:cs typeface="+mn-cs"/>
                        </a:rPr>
                        <a:t>Not Null</a:t>
                      </a:r>
                      <a:endParaRPr lang="en-IN" dirty="0"/>
                    </a:p>
                  </a:txBody>
                  <a:tcPr/>
                </a:tc>
                <a:tc>
                  <a:txBody>
                    <a:bodyPr/>
                    <a:lstStyle/>
                    <a:p>
                      <a:r>
                        <a:rPr lang="en-US" dirty="0" smtClean="0"/>
                        <a:t>Password given by user.</a:t>
                      </a:r>
                      <a:endParaRPr lang="en-IN" dirty="0"/>
                    </a:p>
                  </a:txBody>
                  <a:tcPr/>
                </a:tc>
                <a:extLst>
                  <a:ext uri="{0D108BD9-81ED-4DB2-BD59-A6C34878D82A}">
                    <a16:rowId xmlns:a16="http://schemas.microsoft.com/office/drawing/2014/main" val="2741978831"/>
                  </a:ext>
                </a:extLst>
              </a:tr>
            </a:tbl>
          </a:graphicData>
        </a:graphic>
      </p:graphicFrame>
      <p:sp>
        <p:nvSpPr>
          <p:cNvPr id="5" name="TextBox 4"/>
          <p:cNvSpPr txBox="1"/>
          <p:nvPr/>
        </p:nvSpPr>
        <p:spPr>
          <a:xfrm>
            <a:off x="1312433" y="1097280"/>
            <a:ext cx="10069158" cy="369332"/>
          </a:xfrm>
          <a:prstGeom prst="rect">
            <a:avLst/>
          </a:prstGeom>
          <a:noFill/>
        </p:spPr>
        <p:txBody>
          <a:bodyPr wrap="square" rtlCol="0">
            <a:spAutoFit/>
          </a:bodyPr>
          <a:lstStyle/>
          <a:p>
            <a:r>
              <a:rPr lang="en-US" b="1" dirty="0" smtClean="0"/>
              <a:t>User Table: </a:t>
            </a:r>
            <a:r>
              <a:rPr lang="en-IN" sz="1600" dirty="0" smtClean="0"/>
              <a:t>This table will be use to store user information to create username to personalize use of application.</a:t>
            </a:r>
            <a:endParaRPr lang="en-IN" b="1" dirty="0"/>
          </a:p>
        </p:txBody>
      </p:sp>
      <p:sp>
        <p:nvSpPr>
          <p:cNvPr id="6" name="Left Arrow 5">
            <a:hlinkClick r:id="rId2" action="ppaction://hlinksldjump"/>
          </p:cNvPr>
          <p:cNvSpPr/>
          <p:nvPr/>
        </p:nvSpPr>
        <p:spPr>
          <a:xfrm>
            <a:off x="9595336" y="6347011"/>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21192982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6091"/>
            <a:ext cx="9905998" cy="543308"/>
          </a:xfrm>
        </p:spPr>
        <p:txBody>
          <a:bodyPr>
            <a:normAutofit/>
          </a:bodyPr>
          <a:lstStyle/>
          <a:p>
            <a:pPr algn="ctr"/>
            <a:r>
              <a:rPr lang="en-US" sz="3200" b="1" u="sng" dirty="0" smtClean="0">
                <a:effectLst>
                  <a:outerShdw blurRad="38100" dist="38100" dir="2700000" algn="tl">
                    <a:srgbClr val="000000">
                      <a:alpha val="43137"/>
                    </a:srgbClr>
                  </a:outerShdw>
                </a:effectLst>
              </a:rPr>
              <a:t>System  layout</a:t>
            </a:r>
            <a:endParaRPr lang="en-IN" sz="3200" b="1" u="sng"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074" y="1318896"/>
            <a:ext cx="4200227" cy="5114176"/>
          </a:xfrm>
        </p:spPr>
      </p:pic>
      <p:sp>
        <p:nvSpPr>
          <p:cNvPr id="5" name="TextBox 4"/>
          <p:cNvSpPr txBox="1"/>
          <p:nvPr/>
        </p:nvSpPr>
        <p:spPr>
          <a:xfrm>
            <a:off x="1270504" y="604508"/>
            <a:ext cx="9196687" cy="369332"/>
          </a:xfrm>
          <a:prstGeom prst="rect">
            <a:avLst/>
          </a:prstGeom>
          <a:noFill/>
        </p:spPr>
        <p:txBody>
          <a:bodyPr wrap="square" rtlCol="0">
            <a:spAutoFit/>
          </a:bodyPr>
          <a:lstStyle/>
          <a:p>
            <a:r>
              <a:rPr lang="en-US" b="1" dirty="0" smtClean="0"/>
              <a:t>Login Page :</a:t>
            </a:r>
            <a:r>
              <a:rPr lang="en-IN" sz="1600" dirty="0" smtClean="0"/>
              <a:t>This Form will be use to Login, if user is registered already</a:t>
            </a:r>
            <a:r>
              <a:rPr lang="en-IN" dirty="0" smtClean="0"/>
              <a:t>.</a:t>
            </a:r>
            <a:r>
              <a:rPr lang="en-US" b="1" dirty="0" smtClean="0"/>
              <a:t> </a:t>
            </a:r>
            <a:endParaRPr lang="en-IN" b="1" dirty="0"/>
          </a:p>
        </p:txBody>
      </p:sp>
      <p:sp>
        <p:nvSpPr>
          <p:cNvPr id="6" name="Left Arrow 5">
            <a:hlinkClick r:id="rId3" action="ppaction://hlinksldjump"/>
          </p:cNvPr>
          <p:cNvSpPr/>
          <p:nvPr/>
        </p:nvSpPr>
        <p:spPr>
          <a:xfrm>
            <a:off x="9144000" y="6433072"/>
            <a:ext cx="2226830"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pic>
        <p:nvPicPr>
          <p:cNvPr id="7" name="Content Placeholder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2301" y="1318896"/>
            <a:ext cx="4270786" cy="5114176"/>
          </a:xfrm>
          <a:prstGeom prst="rect">
            <a:avLst/>
          </a:prstGeom>
        </p:spPr>
      </p:pic>
      <p:pic>
        <p:nvPicPr>
          <p:cNvPr id="8" name="Content Placeholder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3088" y="1318895"/>
            <a:ext cx="3628912" cy="5114177"/>
          </a:xfrm>
          <a:prstGeom prst="rect">
            <a:avLst/>
          </a:prstGeom>
        </p:spPr>
      </p:pic>
    </p:spTree>
    <p:extLst>
      <p:ext uri="{BB962C8B-B14F-4D97-AF65-F5344CB8AC3E}">
        <p14:creationId xmlns:p14="http://schemas.microsoft.com/office/powerpoint/2010/main" val="23337500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5201" y="0"/>
            <a:ext cx="10197147" cy="6858000"/>
          </a:xfrm>
        </p:spPr>
        <p:txBody>
          <a:bodyPr>
            <a:normAutofit/>
          </a:bodyPr>
          <a:lstStyle/>
          <a:p>
            <a:r>
              <a:rPr lang="en-US" sz="1800" b="1" dirty="0" smtClean="0"/>
              <a:t>Registeration</a:t>
            </a:r>
            <a:r>
              <a:rPr lang="en-US" sz="1800" b="1" dirty="0"/>
              <a:t> </a:t>
            </a:r>
            <a:r>
              <a:rPr lang="en-US" sz="1800" b="1" dirty="0" smtClean="0"/>
              <a:t>Page: </a:t>
            </a:r>
            <a:r>
              <a:rPr lang="en-IN" sz="1600" dirty="0" smtClean="0"/>
              <a:t>This form will be use to Register or Create new user for Application.</a:t>
            </a:r>
            <a:endParaRPr lang="en-US" sz="1800" dirty="0" smtClean="0"/>
          </a:p>
          <a:p>
            <a:endParaRPr lang="en-US" sz="1800" b="1" dirty="0" smtClean="0"/>
          </a:p>
          <a:p>
            <a:endParaRPr lang="en-IN" sz="1800" b="1" dirty="0"/>
          </a:p>
        </p:txBody>
      </p:sp>
      <p:sp>
        <p:nvSpPr>
          <p:cNvPr id="5" name="Left Arrow 4">
            <a:hlinkClick r:id="rId2" action="ppaction://hlinksldjump"/>
          </p:cNvPr>
          <p:cNvSpPr/>
          <p:nvPr/>
        </p:nvSpPr>
        <p:spPr>
          <a:xfrm>
            <a:off x="9681882" y="6453609"/>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11967"/>
            <a:ext cx="4292301" cy="5178829"/>
          </a:xfrm>
          <a:prstGeom prst="rect">
            <a:avLst/>
          </a:prstGeom>
        </p:spPr>
      </p:pic>
      <p:pic>
        <p:nvPicPr>
          <p:cNvPr id="6" name="Content Placeholder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8815" y="519418"/>
            <a:ext cx="4195482" cy="5182135"/>
          </a:xfrm>
          <a:prstGeom prst="rect">
            <a:avLst/>
          </a:prstGeom>
        </p:spPr>
      </p:pic>
      <p:pic>
        <p:nvPicPr>
          <p:cNvPr id="7" name="Content Placeholder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9901" y="519421"/>
            <a:ext cx="4242099" cy="5182136"/>
          </a:xfrm>
          <a:prstGeom prst="rect">
            <a:avLst/>
          </a:prstGeom>
        </p:spPr>
      </p:pic>
    </p:spTree>
    <p:extLst>
      <p:ext uri="{BB962C8B-B14F-4D97-AF65-F5344CB8AC3E}">
        <p14:creationId xmlns:p14="http://schemas.microsoft.com/office/powerpoint/2010/main" val="24217089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50607"/>
            <a:ext cx="9905998" cy="989704"/>
          </a:xfrm>
        </p:spPr>
        <p:txBody>
          <a:bodyPr>
            <a:normAutofit fontScale="90000"/>
          </a:bodyPr>
          <a:lstStyle/>
          <a:p>
            <a:r>
              <a:rPr lang="en-IN" sz="2000" b="1" u="sng" dirty="0" err="1"/>
              <a:t>ChatBot</a:t>
            </a:r>
            <a:r>
              <a:rPr lang="en-IN" sz="2000" b="1" u="sng" dirty="0"/>
              <a:t> Page</a:t>
            </a:r>
            <a:r>
              <a:rPr lang="en-IN" sz="2000" dirty="0"/>
              <a:t>: </a:t>
            </a:r>
            <a:r>
              <a:rPr lang="en-IN" sz="2000" cap="none" dirty="0" smtClean="0"/>
              <a:t>In this page user will be able to enter his or her query to JIA, and response will be generated through voice and written form.</a:t>
            </a:r>
            <a:r>
              <a:rPr lang="en-IN" dirty="0"/>
              <a:t/>
            </a:r>
            <a:br>
              <a:rPr lang="en-IN" dirty="0"/>
            </a:b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8504" y="856122"/>
            <a:ext cx="6712771" cy="5472961"/>
          </a:xfrm>
        </p:spPr>
      </p:pic>
      <p:sp>
        <p:nvSpPr>
          <p:cNvPr id="5" name="Left Arrow 4">
            <a:hlinkClick r:id="rId3" action="ppaction://hlinksldjump"/>
          </p:cNvPr>
          <p:cNvSpPr/>
          <p:nvPr/>
        </p:nvSpPr>
        <p:spPr>
          <a:xfrm>
            <a:off x="9718366" y="6433072"/>
            <a:ext cx="1652464"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13592467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478570"/>
          </a:xfrm>
        </p:spPr>
        <p:txBody>
          <a:bodyPr>
            <a:normAutofit/>
          </a:bodyPr>
          <a:lstStyle/>
          <a:p>
            <a:r>
              <a:rPr lang="en-IN" sz="2000" b="1" u="sng" dirty="0"/>
              <a:t>Talking Page:</a:t>
            </a:r>
            <a:r>
              <a:rPr lang="en-IN" sz="2000" dirty="0"/>
              <a:t> </a:t>
            </a:r>
            <a:r>
              <a:rPr lang="en-IN" sz="2000" cap="none" dirty="0" smtClean="0"/>
              <a:t>In this page user will establish conversation with virtual assistant directly by using microphone. Response will be generated through voice(speaker).</a:t>
            </a:r>
            <a:r>
              <a:rPr lang="en-IN" dirty="0"/>
              <a:t/>
            </a:r>
            <a:br>
              <a:rPr lang="en-IN" dirty="0"/>
            </a:br>
            <a:endParaRPr lang="en-IN" dirty="0"/>
          </a:p>
        </p:txBody>
      </p:sp>
      <p:pic>
        <p:nvPicPr>
          <p:cNvPr id="4" name="Content Placeholder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775473" y="938782"/>
            <a:ext cx="7433533" cy="5354442"/>
          </a:xfrm>
        </p:spPr>
      </p:pic>
      <p:sp>
        <p:nvSpPr>
          <p:cNvPr id="5" name="Left Arrow 4">
            <a:hlinkClick r:id="rId5" action="ppaction://hlinksldjump"/>
          </p:cNvPr>
          <p:cNvSpPr/>
          <p:nvPr/>
        </p:nvSpPr>
        <p:spPr>
          <a:xfrm>
            <a:off x="9718366" y="6433072"/>
            <a:ext cx="1652464"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pic>
        <p:nvPicPr>
          <p:cNvPr id="3" name="EnergyBombing">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775473" y="1742739"/>
            <a:ext cx="7433534" cy="4550484"/>
          </a:xfrm>
          <a:prstGeom prst="rect">
            <a:avLst/>
          </a:prstGeom>
        </p:spPr>
      </p:pic>
    </p:spTree>
    <p:extLst>
      <p:ext uri="{BB962C8B-B14F-4D97-AF65-F5344CB8AC3E}">
        <p14:creationId xmlns:p14="http://schemas.microsoft.com/office/powerpoint/2010/main" val="223126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989" y="80636"/>
            <a:ext cx="9905998" cy="1178009"/>
          </a:xfrm>
        </p:spPr>
        <p:txBody>
          <a:bodyPr>
            <a:normAutofit/>
          </a:bodyPr>
          <a:lstStyle/>
          <a:p>
            <a:pPr algn="ctr"/>
            <a:r>
              <a:rPr lang="en-IN" sz="2800" b="1" u="sng" dirty="0"/>
              <a:t>Future </a:t>
            </a:r>
            <a:r>
              <a:rPr lang="en-IN" sz="2800" b="1" u="sng" dirty="0" smtClean="0"/>
              <a:t>Enhancement</a:t>
            </a:r>
            <a:endParaRPr lang="en-IN" sz="2800" dirty="0"/>
          </a:p>
        </p:txBody>
      </p:sp>
      <p:sp>
        <p:nvSpPr>
          <p:cNvPr id="3" name="Content Placeholder 2"/>
          <p:cNvSpPr>
            <a:spLocks noGrp="1"/>
          </p:cNvSpPr>
          <p:nvPr>
            <p:ph idx="1"/>
          </p:nvPr>
        </p:nvSpPr>
        <p:spPr>
          <a:xfrm>
            <a:off x="1141412" y="1258645"/>
            <a:ext cx="9905999" cy="3541714"/>
          </a:xfrm>
        </p:spPr>
        <p:txBody>
          <a:bodyPr>
            <a:normAutofit fontScale="92500"/>
          </a:bodyPr>
          <a:lstStyle/>
          <a:p>
            <a:pPr lvl="0"/>
            <a:r>
              <a:rPr lang="en-IN" sz="2200" dirty="0"/>
              <a:t>In future, user will be able to select voice of AI Voice Assistant according to them.</a:t>
            </a:r>
          </a:p>
          <a:p>
            <a:pPr lvl="0"/>
            <a:r>
              <a:rPr lang="en-IN" sz="2200" dirty="0"/>
              <a:t>User will be able to select language according to there convenience.</a:t>
            </a:r>
          </a:p>
          <a:p>
            <a:pPr lvl="0"/>
            <a:r>
              <a:rPr lang="en-IN" sz="2200" dirty="0"/>
              <a:t>AI Voice Assistant will be able to work offline.</a:t>
            </a:r>
          </a:p>
          <a:p>
            <a:pPr lvl="0"/>
            <a:r>
              <a:rPr lang="en-IN" sz="2200" dirty="0"/>
              <a:t>Implementing voice recognition for personalized responses and secure interaction.</a:t>
            </a:r>
          </a:p>
          <a:p>
            <a:pPr lvl="0"/>
            <a:r>
              <a:rPr lang="en-IN" sz="2200" dirty="0"/>
              <a:t>Allowing user to add new command and skills, making it adaptable to specific needs.</a:t>
            </a:r>
          </a:p>
          <a:p>
            <a:pPr lvl="0"/>
            <a:r>
              <a:rPr lang="en-IN" sz="2200" dirty="0"/>
              <a:t>Leverage AI to analyse user behaviour and usage patterns to provide more personalized and predictive suggestions over time.</a:t>
            </a:r>
          </a:p>
          <a:p>
            <a:endParaRPr lang="en-IN" dirty="0"/>
          </a:p>
        </p:txBody>
      </p:sp>
      <p:sp>
        <p:nvSpPr>
          <p:cNvPr id="4" name="Left Arrow 3">
            <a:hlinkClick r:id="rId2" action="ppaction://hlinksldjump"/>
          </p:cNvPr>
          <p:cNvSpPr/>
          <p:nvPr/>
        </p:nvSpPr>
        <p:spPr>
          <a:xfrm>
            <a:off x="9718366" y="6433072"/>
            <a:ext cx="1652464"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24376551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226372"/>
          </a:xfrm>
        </p:spPr>
        <p:txBody>
          <a:bodyPr>
            <a:normAutofit/>
          </a:bodyPr>
          <a:lstStyle/>
          <a:p>
            <a:pPr algn="ctr"/>
            <a:r>
              <a:rPr lang="en-IN" sz="3200" b="1" u="sng" dirty="0" smtClean="0"/>
              <a:t>CONCLUSION</a:t>
            </a:r>
            <a:endParaRPr lang="en-IN" sz="3200" dirty="0"/>
          </a:p>
        </p:txBody>
      </p:sp>
      <p:sp>
        <p:nvSpPr>
          <p:cNvPr id="3" name="Content Placeholder 2"/>
          <p:cNvSpPr>
            <a:spLocks noGrp="1"/>
          </p:cNvSpPr>
          <p:nvPr>
            <p:ph idx="1"/>
          </p:nvPr>
        </p:nvSpPr>
        <p:spPr>
          <a:xfrm>
            <a:off x="1141412" y="1679332"/>
            <a:ext cx="9905999" cy="3541714"/>
          </a:xfrm>
        </p:spPr>
        <p:txBody>
          <a:bodyPr>
            <a:normAutofit/>
          </a:bodyPr>
          <a:lstStyle/>
          <a:p>
            <a:pPr marL="0" indent="0" algn="just">
              <a:buNone/>
            </a:pPr>
            <a:r>
              <a:rPr lang="en-IN" sz="2000" dirty="0"/>
              <a:t>Through this voice assistant, we have automated various services using a single line command. It eases most of the tasks of the user like searching the web, retrieving weather forecast details. We aim to make this project a complete server assistant and make it smart enough to act as a replacement for a general server administration. The future plans include integrating JIA with mobile using React Native to provide a synchronised experience between the two connected devices. </a:t>
            </a:r>
          </a:p>
        </p:txBody>
      </p:sp>
      <p:sp>
        <p:nvSpPr>
          <p:cNvPr id="4" name="Left Arrow 3">
            <a:hlinkClick r:id="rId2" action="ppaction://hlinksldjump"/>
          </p:cNvPr>
          <p:cNvSpPr/>
          <p:nvPr/>
        </p:nvSpPr>
        <p:spPr>
          <a:xfrm>
            <a:off x="9595129" y="6454588"/>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9504541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645459"/>
          </a:xfrm>
        </p:spPr>
        <p:txBody>
          <a:bodyPr>
            <a:normAutofit/>
          </a:bodyPr>
          <a:lstStyle/>
          <a:p>
            <a:pPr algn="ctr"/>
            <a:r>
              <a:rPr lang="en-IN" sz="3200" b="1" u="sng" dirty="0" err="1" smtClean="0">
                <a:effectLst>
                  <a:outerShdw blurRad="38100" dist="38100" dir="2700000" algn="tl">
                    <a:srgbClr val="000000">
                      <a:alpha val="43137"/>
                    </a:srgbClr>
                  </a:outerShdw>
                </a:effectLst>
              </a:rPr>
              <a:t>BIBLiOGRAPHY</a:t>
            </a:r>
            <a:endParaRPr lang="en-IN" sz="32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829478"/>
            <a:ext cx="9905999" cy="6028522"/>
          </a:xfrm>
        </p:spPr>
        <p:txBody>
          <a:bodyPr>
            <a:normAutofit/>
          </a:bodyPr>
          <a:lstStyle/>
          <a:p>
            <a:pPr lvl="0"/>
            <a:r>
              <a:rPr lang="en-IN" sz="1800" u="sng" dirty="0">
                <a:hlinkClick r:id="rId2"/>
              </a:rPr>
              <a:t>https://www.w3schools.com</a:t>
            </a:r>
            <a:endParaRPr lang="en-IN" sz="1800" dirty="0"/>
          </a:p>
          <a:p>
            <a:pPr lvl="0"/>
            <a:r>
              <a:rPr lang="en-IN" sz="1800" u="sng" dirty="0">
                <a:hlinkClick r:id="rId3"/>
              </a:rPr>
              <a:t>https://</a:t>
            </a:r>
            <a:r>
              <a:rPr lang="en-IN" sz="1800" u="sng" dirty="0" smtClean="0">
                <a:hlinkClick r:id="rId3"/>
              </a:rPr>
              <a:t>www.tutorialspoint.com</a:t>
            </a:r>
            <a:endParaRPr lang="en-IN" sz="1800" u="sng" dirty="0" smtClean="0"/>
          </a:p>
          <a:p>
            <a:pPr lvl="0"/>
            <a:r>
              <a:rPr lang="en-US" sz="1800" u="sng" dirty="0" smtClean="0">
                <a:hlinkClick r:id="rId4"/>
              </a:rPr>
              <a:t>https://www.python.org/doc</a:t>
            </a:r>
            <a:endParaRPr lang="en-IN" sz="1800" dirty="0"/>
          </a:p>
          <a:p>
            <a:r>
              <a:rPr lang="en-US" sz="1800" dirty="0" smtClean="0">
                <a:hlinkClick r:id="rId5"/>
              </a:rPr>
              <a:t>Code with Harry Python Playlist</a:t>
            </a:r>
            <a:endParaRPr lang="en-IN" sz="1800" dirty="0"/>
          </a:p>
        </p:txBody>
      </p:sp>
      <p:sp>
        <p:nvSpPr>
          <p:cNvPr id="4" name="Left Arrow 3">
            <a:hlinkClick r:id="rId6" action="ppaction://hlinksldjump"/>
          </p:cNvPr>
          <p:cNvSpPr/>
          <p:nvPr/>
        </p:nvSpPr>
        <p:spPr>
          <a:xfrm>
            <a:off x="9595129" y="6454588"/>
            <a:ext cx="1710466" cy="40341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Back to index</a:t>
            </a:r>
            <a:endParaRPr lang="en-IN" dirty="0"/>
          </a:p>
        </p:txBody>
      </p:sp>
    </p:spTree>
    <p:extLst>
      <p:ext uri="{BB962C8B-B14F-4D97-AF65-F5344CB8AC3E}">
        <p14:creationId xmlns:p14="http://schemas.microsoft.com/office/powerpoint/2010/main" val="308785339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ustom 1">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548BB7"/>
      </a:hlink>
      <a:folHlink>
        <a:srgbClr val="0070C0"/>
      </a:folHlink>
    </a:clrScheme>
    <a:fontScheme name="Custom 1">
      <a:majorFont>
        <a:latin typeface="Times New Roman"/>
        <a:ea typeface=""/>
        <a:cs typeface="Times New Roman"/>
      </a:majorFont>
      <a:minorFont>
        <a:latin typeface="Times New Roman"/>
        <a:ea typeface=""/>
        <a:cs typeface="Times New Roma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Theme1" id="{4768737F-01E4-4C26-A149-462BFD51AAAE}" vid="{04D24D4E-86F4-49A8-AB4A-C52A0514671C}"/>
    </a:ext>
  </a:extLst>
</a:theme>
</file>

<file path=docProps/app.xml><?xml version="1.0" encoding="utf-8"?>
<Properties xmlns="http://schemas.openxmlformats.org/officeDocument/2006/extended-properties" xmlns:vt="http://schemas.openxmlformats.org/officeDocument/2006/docPropsVTypes">
  <Template/>
  <TotalTime>1745</TotalTime>
  <Words>1382</Words>
  <Application>Microsoft Office PowerPoint</Application>
  <PresentationFormat>Widescreen</PresentationFormat>
  <Paragraphs>251</Paragraphs>
  <Slides>24</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Times New Roman</vt:lpstr>
      <vt:lpstr>Trebuchet MS</vt:lpstr>
      <vt:lpstr>Theme1</vt:lpstr>
      <vt:lpstr>AI VOICE ASSISTANT(JIA)</vt:lpstr>
      <vt:lpstr>Index </vt:lpstr>
      <vt:lpstr>Project Definition</vt:lpstr>
      <vt:lpstr>Project Profile </vt:lpstr>
      <vt:lpstr>Need of The System</vt:lpstr>
      <vt:lpstr>SCOPE OF PROPOSED SYSTEM</vt:lpstr>
      <vt:lpstr>Features </vt:lpstr>
      <vt:lpstr>Merits</vt:lpstr>
      <vt:lpstr>Module</vt:lpstr>
      <vt:lpstr>System Overview </vt:lpstr>
      <vt:lpstr>   Algorithm used LLMs: Large language models (llms) are advanced AI systems designed to understand and generate human language. Here's a structured breakdown of their characteristics, functionality, applications, limitations, and ethical considerations.</vt:lpstr>
      <vt:lpstr>Use Case Diagram</vt:lpstr>
      <vt:lpstr>Class Diagram</vt:lpstr>
      <vt:lpstr>Activity Diagram</vt:lpstr>
      <vt:lpstr>Sequence Diagram for Query </vt:lpstr>
      <vt:lpstr>Sequence Diagram for Task</vt:lpstr>
      <vt:lpstr>Data Dictionary</vt:lpstr>
      <vt:lpstr>System  layout</vt:lpstr>
      <vt:lpstr>PowerPoint Presentation</vt:lpstr>
      <vt:lpstr>ChatBot Page: In this page user will be able to enter his or her query to JIA, and response will be generated through voice and written form. </vt:lpstr>
      <vt:lpstr>Talking Page: In this page user will establish conversation with virtual assistant directly by using microphone. Response will be generated through voice(speaker). </vt:lpstr>
      <vt:lpstr>Future Enhancement</vt:lpstr>
      <vt:lpstr>CONCLUSION</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VOICE ASSISTANT</dc:title>
  <dc:creator>BCA2022_18</dc:creator>
  <cp:lastModifiedBy>BCA2022_18</cp:lastModifiedBy>
  <cp:revision>436</cp:revision>
  <dcterms:created xsi:type="dcterms:W3CDTF">2024-07-24T08:31:50Z</dcterms:created>
  <dcterms:modified xsi:type="dcterms:W3CDTF">2025-03-24T09:44:08Z</dcterms:modified>
</cp:coreProperties>
</file>